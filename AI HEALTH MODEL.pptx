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64" r:id="rId7"/>
    <p:sldId id="268" r:id="rId8"/>
    <p:sldId id="265"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642777-EBFE-95E0-1720-5072926516CB}" v="9" dt="2026-02-22T12:37:36.332"/>
    <p1510:client id="{C594BD16-98BC-3C33-2567-147F6C2BD330}" v="221" dt="2026-02-21T12:34:48.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4D21609-A7C6-06F9-2814-DC3F7E0D290A}"/>
              </a:ext>
            </a:extLst>
          </p:cNvPr>
          <p:cNvPicPr>
            <a:picLocks noChangeAspect="1"/>
          </p:cNvPicPr>
          <p:nvPr/>
        </p:nvPicPr>
        <p:blipFill>
          <a:blip r:embed="rId2"/>
          <a:srcRect l="5884" r="-1" b="-1"/>
          <a:stretch>
            <a:fillRect/>
          </a:stretch>
        </p:blipFill>
        <p:spPr>
          <a:xfrm>
            <a:off x="1" y="10"/>
            <a:ext cx="9518502" cy="6857990"/>
          </a:xfrm>
          <a:prstGeom prst="rect">
            <a:avLst/>
          </a:prstGeom>
        </p:spPr>
      </p:pic>
      <p:sp>
        <p:nvSpPr>
          <p:cNvPr id="26" name="Rectangle 25">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p:cNvSpPr>
            <a:spLocks noGrp="1"/>
          </p:cNvSpPr>
          <p:nvPr>
            <p:ph type="subTitle" idx="1"/>
          </p:nvPr>
        </p:nvSpPr>
        <p:spPr>
          <a:xfrm>
            <a:off x="8067176" y="5865687"/>
            <a:ext cx="4243709" cy="1485319"/>
          </a:xfrm>
          <a:noFill/>
        </p:spPr>
        <p:txBody>
          <a:bodyPr vert="horz" lIns="91440" tIns="45720" rIns="91440" bIns="45720" rtlCol="0">
            <a:normAutofit/>
          </a:bodyPr>
          <a:lstStyle/>
          <a:p>
            <a:pPr algn="l"/>
            <a:r>
              <a:rPr lang="en-US"/>
              <a:t>Presented by : Suhani Gosain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D8A75C-4C03-86D3-F57D-6E75CBD70409}"/>
              </a:ext>
            </a:extLst>
          </p:cNvPr>
          <p:cNvSpPr>
            <a:spLocks noGrp="1"/>
          </p:cNvSpPr>
          <p:nvPr>
            <p:ph type="title"/>
          </p:nvPr>
        </p:nvSpPr>
        <p:spPr>
          <a:xfrm>
            <a:off x="6094105" y="802955"/>
            <a:ext cx="4977976" cy="1454051"/>
          </a:xfrm>
        </p:spPr>
        <p:txBody>
          <a:bodyPr>
            <a:normAutofit/>
          </a:bodyPr>
          <a:lstStyle/>
          <a:p>
            <a:pPr algn="ctr"/>
            <a:r>
              <a:rPr lang="en-US" sz="3600">
                <a:solidFill>
                  <a:schemeClr val="tx2"/>
                </a:solidFill>
              </a:rPr>
              <a:t>INTRODUCTION</a:t>
            </a:r>
            <a:endParaRPr lang="en-US"/>
          </a:p>
        </p:txBody>
      </p:sp>
      <p:pic>
        <p:nvPicPr>
          <p:cNvPr id="7" name="Graphic 6" descr="Stethoscope">
            <a:extLst>
              <a:ext uri="{FF2B5EF4-FFF2-40B4-BE49-F238E27FC236}">
                <a16:creationId xmlns:a16="http://schemas.microsoft.com/office/drawing/2014/main" id="{E14A08EF-2D33-7F8C-2D8B-75401B9B07E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22CAA89F-9BB0-044B-0EFA-47DE1246D2EE}"/>
              </a:ext>
            </a:extLst>
          </p:cNvPr>
          <p:cNvSpPr>
            <a:spLocks noGrp="1"/>
          </p:cNvSpPr>
          <p:nvPr>
            <p:ph idx="1"/>
          </p:nvPr>
        </p:nvSpPr>
        <p:spPr>
          <a:xfrm>
            <a:off x="6090574" y="2421682"/>
            <a:ext cx="5897728" cy="3639289"/>
          </a:xfrm>
        </p:spPr>
        <p:txBody>
          <a:bodyPr vert="horz" lIns="91440" tIns="45720" rIns="91440" bIns="45720" rtlCol="0" anchor="ctr">
            <a:noAutofit/>
          </a:bodyPr>
          <a:lstStyle/>
          <a:p>
            <a:r>
              <a:rPr lang="en-US" sz="2000" dirty="0">
                <a:solidFill>
                  <a:schemeClr val="tx2"/>
                </a:solidFill>
                <a:ea typeface="+mn-lt"/>
                <a:cs typeface="+mn-lt"/>
              </a:rPr>
              <a:t>With the increasing availability of digital healthcare data, there is a growing need for intelligent systems that can interpret medical information quickly and accurately. Blood reports provide essential insights into a person’s health, but the medical terminology and numerical parameters can be difficult for non-experts to understand.</a:t>
            </a:r>
            <a:endParaRPr lang="en-US" sz="2000" dirty="0">
              <a:solidFill>
                <a:schemeClr val="tx2"/>
              </a:solidFill>
            </a:endParaRPr>
          </a:p>
          <a:p>
            <a:r>
              <a:rPr lang="en-US" sz="2000">
                <a:solidFill>
                  <a:schemeClr val="tx2"/>
                </a:solidFill>
                <a:ea typeface="+mn-lt"/>
                <a:cs typeface="+mn-lt"/>
              </a:rPr>
              <a:t>This project introduces a </a:t>
            </a:r>
            <a:r>
              <a:rPr lang="en-US" sz="2000" b="1">
                <a:solidFill>
                  <a:schemeClr val="tx2"/>
                </a:solidFill>
                <a:ea typeface="+mn-lt"/>
                <a:cs typeface="+mn-lt"/>
              </a:rPr>
              <a:t>multimodal AI-based diagnostic assistant</a:t>
            </a:r>
            <a:r>
              <a:rPr lang="en-US" sz="2000">
                <a:solidFill>
                  <a:schemeClr val="tx2"/>
                </a:solidFill>
                <a:ea typeface="+mn-lt"/>
                <a:cs typeface="+mn-lt"/>
              </a:rPr>
              <a:t> that automatically analyzes blood reports and converts complex medical data into simple, meaningful insights. The system aims to make healthcare information more accessible and support early detection of potential health issues.</a:t>
            </a:r>
            <a:endParaRPr lang="en-US" sz="2000" dirty="0">
              <a:solidFill>
                <a:schemeClr val="tx2"/>
              </a:solidFill>
            </a:endParaRPr>
          </a:p>
          <a:p>
            <a:endParaRPr lang="en-US" sz="20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21923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0FE2CD8-746A-A467-3B30-A2E8E26DA680}"/>
              </a:ext>
            </a:extLst>
          </p:cNvPr>
          <p:cNvSpPr>
            <a:spLocks noGrp="1"/>
          </p:cNvSpPr>
          <p:nvPr>
            <p:ph type="title"/>
          </p:nvPr>
        </p:nvSpPr>
        <p:spPr>
          <a:xfrm>
            <a:off x="804672" y="2053641"/>
            <a:ext cx="3669161" cy="2760098"/>
          </a:xfrm>
        </p:spPr>
        <p:txBody>
          <a:bodyPr>
            <a:normAutofit/>
          </a:bodyPr>
          <a:lstStyle/>
          <a:p>
            <a:r>
              <a:rPr lang="en-US" sz="4000">
                <a:solidFill>
                  <a:schemeClr val="tx2"/>
                </a:solidFill>
                <a:ea typeface="+mj-lt"/>
                <a:cs typeface="+mj-lt"/>
              </a:rPr>
              <a:t>Project Overview &amp; Objectives</a:t>
            </a:r>
            <a:endParaRPr lang="en-US" sz="4000">
              <a:solidFill>
                <a:schemeClr val="tx2"/>
              </a:solidFill>
            </a:endParaRPr>
          </a:p>
        </p:txBody>
      </p:sp>
      <p:sp>
        <p:nvSpPr>
          <p:cNvPr id="3" name="Content Placeholder 2">
            <a:extLst>
              <a:ext uri="{FF2B5EF4-FFF2-40B4-BE49-F238E27FC236}">
                <a16:creationId xmlns:a16="http://schemas.microsoft.com/office/drawing/2014/main" id="{CC7BB0A5-AF02-2B2C-C0B7-FEC0C090E854}"/>
              </a:ext>
            </a:extLst>
          </p:cNvPr>
          <p:cNvSpPr>
            <a:spLocks noGrp="1"/>
          </p:cNvSpPr>
          <p:nvPr>
            <p:ph idx="1"/>
          </p:nvPr>
        </p:nvSpPr>
        <p:spPr>
          <a:xfrm>
            <a:off x="6090574" y="801866"/>
            <a:ext cx="5306084" cy="5230634"/>
          </a:xfrm>
          <a:noFill/>
          <a:ln>
            <a:noFill/>
          </a:ln>
        </p:spPr>
        <p:txBody>
          <a:bodyPr vert="horz" lIns="91440" tIns="45720" rIns="91440" bIns="45720" rtlCol="0" anchor="ctr">
            <a:normAutofit/>
          </a:bodyPr>
          <a:lstStyle/>
          <a:p>
            <a:pPr marL="0" indent="0">
              <a:buNone/>
            </a:pPr>
            <a:r>
              <a:rPr lang="en-US" sz="2000" b="1">
                <a:solidFill>
                  <a:schemeClr val="tx2"/>
                </a:solidFill>
                <a:ea typeface="+mn-lt"/>
                <a:cs typeface="+mn-lt"/>
              </a:rPr>
              <a:t>Project Overview:</a:t>
            </a:r>
            <a:br>
              <a:rPr lang="en-US" sz="2000" b="1" dirty="0">
                <a:ea typeface="+mn-lt"/>
                <a:cs typeface="+mn-lt"/>
              </a:rPr>
            </a:br>
            <a:r>
              <a:rPr lang="en-US" sz="2000" b="1" dirty="0">
                <a:solidFill>
                  <a:schemeClr val="tx2"/>
                </a:solidFill>
                <a:ea typeface="+mn-lt"/>
                <a:cs typeface="+mn-lt"/>
              </a:rPr>
              <a:t> </a:t>
            </a:r>
            <a:r>
              <a:rPr lang="en-US" sz="2000">
                <a:solidFill>
                  <a:schemeClr val="tx2"/>
                </a:solidFill>
                <a:ea typeface="+mn-lt"/>
                <a:cs typeface="+mn-lt"/>
              </a:rPr>
              <a:t>The proposed system is an AI-powered platform that processes blood reports and provides automated interpretation along with personalized health suggestions.</a:t>
            </a:r>
            <a:endParaRPr lang="en-US" sz="2000" dirty="0">
              <a:solidFill>
                <a:schemeClr val="tx2"/>
              </a:solidFill>
              <a:ea typeface="+mn-lt"/>
              <a:cs typeface="+mn-lt"/>
            </a:endParaRPr>
          </a:p>
          <a:p>
            <a:pPr marL="0" indent="0">
              <a:buNone/>
            </a:pPr>
            <a:r>
              <a:rPr lang="en-US" sz="2000" b="1">
                <a:solidFill>
                  <a:schemeClr val="tx2"/>
                </a:solidFill>
                <a:ea typeface="+mn-lt"/>
                <a:cs typeface="+mn-lt"/>
              </a:rPr>
              <a:t>Objectives:</a:t>
            </a:r>
            <a:endParaRPr lang="en-US" sz="2000">
              <a:solidFill>
                <a:schemeClr val="tx2"/>
              </a:solidFill>
            </a:endParaRPr>
          </a:p>
          <a:p>
            <a:r>
              <a:rPr lang="en-US" sz="2000">
                <a:solidFill>
                  <a:schemeClr val="tx2"/>
                </a:solidFill>
                <a:ea typeface="+mn-lt"/>
                <a:cs typeface="+mn-lt"/>
              </a:rPr>
              <a:t>Extract medical parameters from reports</a:t>
            </a:r>
            <a:endParaRPr lang="en-US" sz="2000" dirty="0">
              <a:solidFill>
                <a:schemeClr val="tx2"/>
              </a:solidFill>
            </a:endParaRPr>
          </a:p>
          <a:p>
            <a:r>
              <a:rPr lang="en-US" sz="2000">
                <a:solidFill>
                  <a:schemeClr val="tx2"/>
                </a:solidFill>
                <a:ea typeface="+mn-lt"/>
                <a:cs typeface="+mn-lt"/>
              </a:rPr>
              <a:t>Detect abnormal values using AI</a:t>
            </a:r>
            <a:endParaRPr lang="en-US" sz="2000" dirty="0">
              <a:solidFill>
                <a:schemeClr val="tx2"/>
              </a:solidFill>
            </a:endParaRPr>
          </a:p>
          <a:p>
            <a:r>
              <a:rPr lang="en-US" sz="2000" dirty="0">
                <a:solidFill>
                  <a:schemeClr val="tx2"/>
                </a:solidFill>
                <a:ea typeface="+mn-lt"/>
                <a:cs typeface="+mn-lt"/>
              </a:rPr>
              <a:t>Identify patterns indicating health risks</a:t>
            </a:r>
            <a:endParaRPr lang="en-US" sz="2000" dirty="0">
              <a:solidFill>
                <a:schemeClr val="tx2"/>
              </a:solidFill>
            </a:endParaRPr>
          </a:p>
          <a:p>
            <a:r>
              <a:rPr lang="en-US" sz="2000">
                <a:solidFill>
                  <a:schemeClr val="tx2"/>
                </a:solidFill>
                <a:ea typeface="+mn-lt"/>
                <a:cs typeface="+mn-lt"/>
              </a:rPr>
              <a:t>Generate personalized recommendations</a:t>
            </a:r>
            <a:endParaRPr lang="en-US" sz="2000" dirty="0">
              <a:solidFill>
                <a:schemeClr val="tx2"/>
              </a:solidFill>
            </a:endParaRPr>
          </a:p>
          <a:p>
            <a:r>
              <a:rPr lang="en-US" sz="2000">
                <a:solidFill>
                  <a:schemeClr val="tx2"/>
                </a:solidFill>
                <a:ea typeface="+mn-lt"/>
                <a:cs typeface="+mn-lt"/>
              </a:rPr>
              <a:t>Present results in an easy-to-understand format</a:t>
            </a:r>
            <a:endParaRPr lang="en-US" sz="2000" dirty="0">
              <a:solidFill>
                <a:schemeClr val="tx2"/>
              </a:solidFill>
            </a:endParaRPr>
          </a:p>
          <a:p>
            <a:endParaRPr lang="en-US" sz="2000" dirty="0">
              <a:solidFill>
                <a:schemeClr val="tx2"/>
              </a:solidFill>
            </a:endParaRPr>
          </a:p>
        </p:txBody>
      </p:sp>
    </p:spTree>
    <p:extLst>
      <p:ext uri="{BB962C8B-B14F-4D97-AF65-F5344CB8AC3E}">
        <p14:creationId xmlns:p14="http://schemas.microsoft.com/office/powerpoint/2010/main" val="372470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7171628-536A-60F8-8A58-C1EE208A2E64}"/>
              </a:ext>
            </a:extLst>
          </p:cNvPr>
          <p:cNvSpPr>
            <a:spLocks noGrp="1"/>
          </p:cNvSpPr>
          <p:nvPr>
            <p:ph type="title"/>
          </p:nvPr>
        </p:nvSpPr>
        <p:spPr>
          <a:xfrm>
            <a:off x="640080" y="1243013"/>
            <a:ext cx="3855720" cy="4371974"/>
          </a:xfrm>
        </p:spPr>
        <p:txBody>
          <a:bodyPr>
            <a:normAutofit/>
          </a:bodyPr>
          <a:lstStyle/>
          <a:p>
            <a:r>
              <a:rPr lang="en-US" sz="3600">
                <a:solidFill>
                  <a:schemeClr val="tx2"/>
                </a:solidFill>
                <a:ea typeface="+mj-lt"/>
                <a:cs typeface="+mj-lt"/>
              </a:rPr>
              <a:t>Problem Statement</a:t>
            </a:r>
            <a:endParaRPr lang="en-US" sz="3600">
              <a:solidFill>
                <a:schemeClr val="tx2"/>
              </a:solidFill>
            </a:endParaRPr>
          </a:p>
        </p:txBody>
      </p:sp>
      <p:sp>
        <p:nvSpPr>
          <p:cNvPr id="17" name="Content Placeholder 2">
            <a:extLst>
              <a:ext uri="{FF2B5EF4-FFF2-40B4-BE49-F238E27FC236}">
                <a16:creationId xmlns:a16="http://schemas.microsoft.com/office/drawing/2014/main" id="{507AAD8A-B25E-DAE2-19AC-DE05F85BD561}"/>
              </a:ext>
            </a:extLst>
          </p:cNvPr>
          <p:cNvSpPr>
            <a:spLocks noGrp="1"/>
          </p:cNvSpPr>
          <p:nvPr>
            <p:ph idx="1"/>
          </p:nvPr>
        </p:nvSpPr>
        <p:spPr>
          <a:xfrm>
            <a:off x="6172200" y="804672"/>
            <a:ext cx="5221224" cy="5230368"/>
          </a:xfrm>
        </p:spPr>
        <p:txBody>
          <a:bodyPr vert="horz" lIns="91440" tIns="45720" rIns="91440" bIns="45720" rtlCol="0" anchor="ctr">
            <a:normAutofit/>
          </a:bodyPr>
          <a:lstStyle/>
          <a:p>
            <a:r>
              <a:rPr lang="en-US" sz="2000" dirty="0">
                <a:solidFill>
                  <a:schemeClr val="tx2"/>
                </a:solidFill>
                <a:ea typeface="+mn-lt"/>
                <a:cs typeface="+mn-lt"/>
              </a:rPr>
              <a:t>Blood reports contain complex medical indicators</a:t>
            </a:r>
            <a:endParaRPr lang="en-US" sz="2000" dirty="0">
              <a:solidFill>
                <a:schemeClr val="tx2"/>
              </a:solidFill>
            </a:endParaRPr>
          </a:p>
          <a:p>
            <a:r>
              <a:rPr lang="en-US" sz="2000">
                <a:solidFill>
                  <a:schemeClr val="tx2"/>
                </a:solidFill>
                <a:ea typeface="+mn-lt"/>
                <a:cs typeface="+mn-lt"/>
              </a:rPr>
              <a:t>Patients often struggle to interpret results</a:t>
            </a:r>
            <a:endParaRPr lang="en-US" sz="2000" dirty="0">
              <a:solidFill>
                <a:schemeClr val="tx2"/>
              </a:solidFill>
            </a:endParaRPr>
          </a:p>
          <a:p>
            <a:r>
              <a:rPr lang="en-US" sz="2000">
                <a:solidFill>
                  <a:schemeClr val="tx2"/>
                </a:solidFill>
                <a:ea typeface="+mn-lt"/>
                <a:cs typeface="+mn-lt"/>
              </a:rPr>
              <a:t>Manual interpretation can be time-consuming</a:t>
            </a:r>
            <a:endParaRPr lang="en-US" sz="2000" dirty="0">
              <a:solidFill>
                <a:schemeClr val="tx2"/>
              </a:solidFill>
            </a:endParaRPr>
          </a:p>
          <a:p>
            <a:r>
              <a:rPr lang="en-US" sz="2000">
                <a:solidFill>
                  <a:schemeClr val="tx2"/>
                </a:solidFill>
                <a:ea typeface="+mn-lt"/>
                <a:cs typeface="+mn-lt"/>
              </a:rPr>
              <a:t>Lack of quick and personalized feedback</a:t>
            </a:r>
            <a:endParaRPr lang="en-US" sz="2000" dirty="0">
              <a:solidFill>
                <a:schemeClr val="tx2"/>
              </a:solidFill>
            </a:endParaRPr>
          </a:p>
          <a:p>
            <a:r>
              <a:rPr lang="en-US" sz="2000">
                <a:solidFill>
                  <a:schemeClr val="tx2"/>
                </a:solidFill>
                <a:ea typeface="+mn-lt"/>
                <a:cs typeface="+mn-lt"/>
              </a:rPr>
              <a:t>👉 This highlights the need for an intelligent automated diagnostic system.</a:t>
            </a:r>
            <a:endParaRPr lang="en-US" sz="2000" dirty="0">
              <a:solidFill>
                <a:schemeClr val="tx2"/>
              </a:solidFill>
            </a:endParaRPr>
          </a:p>
          <a:p>
            <a:endParaRPr lang="en-US" sz="2000" dirty="0">
              <a:solidFill>
                <a:schemeClr val="tx2"/>
              </a:solidFill>
            </a:endParaRPr>
          </a:p>
        </p:txBody>
      </p:sp>
    </p:spTree>
    <p:extLst>
      <p:ext uri="{BB962C8B-B14F-4D97-AF65-F5344CB8AC3E}">
        <p14:creationId xmlns:p14="http://schemas.microsoft.com/office/powerpoint/2010/main" val="2006522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9E0AA91-326B-557F-2FD5-8514090EB61D}"/>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a:t>System Workflow</a:t>
            </a:r>
          </a:p>
        </p:txBody>
      </p:sp>
      <p:sp>
        <p:nvSpPr>
          <p:cNvPr id="20" name="Rectangle: Rounded Corners 19">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3" name="Picture 2">
            <a:extLst>
              <a:ext uri="{FF2B5EF4-FFF2-40B4-BE49-F238E27FC236}">
                <a16:creationId xmlns:a16="http://schemas.microsoft.com/office/drawing/2014/main" id="{FF9D870F-F93F-9DB7-F31B-1AA78047B466}"/>
              </a:ext>
            </a:extLst>
          </p:cNvPr>
          <p:cNvPicPr>
            <a:picLocks noChangeAspect="1"/>
          </p:cNvPicPr>
          <p:nvPr/>
        </p:nvPicPr>
        <p:blipFill>
          <a:blip r:embed="rId2"/>
          <a:srcRect l="2588" t="17044" r="53990"/>
          <a:stretch>
            <a:fillRect/>
          </a:stretch>
        </p:blipFill>
        <p:spPr>
          <a:xfrm>
            <a:off x="1577453" y="2139484"/>
            <a:ext cx="3499912" cy="4376870"/>
          </a:xfrm>
          <a:prstGeom prst="rect">
            <a:avLst/>
          </a:prstGeom>
        </p:spPr>
      </p:pic>
      <p:pic>
        <p:nvPicPr>
          <p:cNvPr id="4" name="Picture 3">
            <a:extLst>
              <a:ext uri="{FF2B5EF4-FFF2-40B4-BE49-F238E27FC236}">
                <a16:creationId xmlns:a16="http://schemas.microsoft.com/office/drawing/2014/main" id="{8BBFF04B-C13C-5483-1197-FB098DCDD19C}"/>
              </a:ext>
            </a:extLst>
          </p:cNvPr>
          <p:cNvPicPr>
            <a:picLocks noChangeAspect="1"/>
          </p:cNvPicPr>
          <p:nvPr/>
        </p:nvPicPr>
        <p:blipFill>
          <a:blip r:embed="rId2"/>
          <a:srcRect l="52354" t="16721" r="1492" b="31931"/>
          <a:stretch>
            <a:fillRect/>
          </a:stretch>
        </p:blipFill>
        <p:spPr>
          <a:xfrm>
            <a:off x="6250211" y="2139484"/>
            <a:ext cx="5516310" cy="4096512"/>
          </a:xfrm>
          <a:prstGeom prst="rect">
            <a:avLst/>
          </a:prstGeom>
        </p:spPr>
      </p:pic>
    </p:spTree>
    <p:extLst>
      <p:ext uri="{BB962C8B-B14F-4D97-AF65-F5344CB8AC3E}">
        <p14:creationId xmlns:p14="http://schemas.microsoft.com/office/powerpoint/2010/main" val="3998868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F4BE9F9-4D63-4715-B7BE-88C338625F73}"/>
              </a:ext>
            </a:extLst>
          </p:cNvPr>
          <p:cNvSpPr>
            <a:spLocks noGrp="1"/>
          </p:cNvSpPr>
          <p:nvPr>
            <p:ph type="title"/>
          </p:nvPr>
        </p:nvSpPr>
        <p:spPr>
          <a:xfrm>
            <a:off x="804672" y="2053641"/>
            <a:ext cx="3669161" cy="2760098"/>
          </a:xfrm>
        </p:spPr>
        <p:txBody>
          <a:bodyPr>
            <a:normAutofit/>
          </a:bodyPr>
          <a:lstStyle/>
          <a:p>
            <a:r>
              <a:rPr lang="en-US" sz="4000">
                <a:solidFill>
                  <a:schemeClr val="tx2"/>
                </a:solidFill>
                <a:ea typeface="+mj-lt"/>
                <a:cs typeface="+mj-lt"/>
              </a:rPr>
              <a:t>Multimodal AI Approach</a:t>
            </a:r>
            <a:endParaRPr lang="en-US" sz="4000">
              <a:solidFill>
                <a:schemeClr val="tx2"/>
              </a:solidFill>
            </a:endParaRPr>
          </a:p>
        </p:txBody>
      </p:sp>
      <p:sp>
        <p:nvSpPr>
          <p:cNvPr id="3" name="Content Placeholder 2">
            <a:extLst>
              <a:ext uri="{FF2B5EF4-FFF2-40B4-BE49-F238E27FC236}">
                <a16:creationId xmlns:a16="http://schemas.microsoft.com/office/drawing/2014/main" id="{205FBBDB-76F7-EA0D-9949-F5628B3B6F35}"/>
              </a:ext>
            </a:extLst>
          </p:cNvPr>
          <p:cNvSpPr>
            <a:spLocks noGrp="1"/>
          </p:cNvSpPr>
          <p:nvPr>
            <p:ph idx="1"/>
          </p:nvPr>
        </p:nvSpPr>
        <p:spPr>
          <a:xfrm>
            <a:off x="6097763" y="816243"/>
            <a:ext cx="5787725" cy="5669143"/>
          </a:xfrm>
          <a:noFill/>
          <a:ln>
            <a:noFill/>
          </a:ln>
        </p:spPr>
        <p:txBody>
          <a:bodyPr vert="horz" lIns="91440" tIns="45720" rIns="91440" bIns="45720" rtlCol="0" anchor="ctr">
            <a:normAutofit lnSpcReduction="10000"/>
          </a:bodyPr>
          <a:lstStyle/>
          <a:p>
            <a:pPr marL="0" indent="0">
              <a:buNone/>
            </a:pPr>
            <a:r>
              <a:rPr lang="en-US" sz="1300">
                <a:solidFill>
                  <a:schemeClr val="tx2"/>
                </a:solidFill>
                <a:ea typeface="+mn-lt"/>
                <a:cs typeface="+mn-lt"/>
              </a:rPr>
              <a:t>T</a:t>
            </a:r>
            <a:r>
              <a:rPr lang="en-US" sz="1600">
                <a:solidFill>
                  <a:schemeClr val="tx2"/>
                </a:solidFill>
                <a:ea typeface="+mn-lt"/>
                <a:cs typeface="+mn-lt"/>
              </a:rPr>
              <a:t>he proposed system follows a </a:t>
            </a:r>
            <a:r>
              <a:rPr lang="en-US" sz="1600" b="1">
                <a:solidFill>
                  <a:schemeClr val="tx2"/>
                </a:solidFill>
                <a:ea typeface="+mn-lt"/>
                <a:cs typeface="+mn-lt"/>
              </a:rPr>
              <a:t>multimodal AI strategy</a:t>
            </a:r>
            <a:r>
              <a:rPr lang="en-US" sz="1600">
                <a:solidFill>
                  <a:schemeClr val="tx2"/>
                </a:solidFill>
                <a:ea typeface="+mn-lt"/>
                <a:cs typeface="+mn-lt"/>
              </a:rPr>
              <a:t>, where multiple specialized models work together to analyze the blood report from different perspectives.</a:t>
            </a:r>
            <a:br>
              <a:rPr lang="en-US" sz="1600" dirty="0">
                <a:ea typeface="+mn-lt"/>
                <a:cs typeface="+mn-lt"/>
              </a:rPr>
            </a:br>
            <a:r>
              <a:rPr lang="en-US" sz="1600">
                <a:solidFill>
                  <a:schemeClr val="tx2"/>
                </a:solidFill>
                <a:ea typeface="+mn-lt"/>
                <a:cs typeface="+mn-lt"/>
              </a:rPr>
              <a:t> This approach improves accuracy, reliability, and depth of insights compared to a single-model system.</a:t>
            </a:r>
            <a:endParaRPr lang="en-US" sz="1600" dirty="0">
              <a:solidFill>
                <a:schemeClr val="tx2"/>
              </a:solidFill>
            </a:endParaRPr>
          </a:p>
          <a:p>
            <a:pPr marL="0" indent="0">
              <a:buNone/>
            </a:pPr>
            <a:r>
              <a:rPr lang="en-US" sz="1600" b="1">
                <a:solidFill>
                  <a:schemeClr val="tx2"/>
                </a:solidFill>
              </a:rPr>
              <a:t>Model 1 — Parameter Interpretation</a:t>
            </a:r>
          </a:p>
          <a:p>
            <a:r>
              <a:rPr lang="en-US" sz="1600">
                <a:solidFill>
                  <a:schemeClr val="tx2"/>
                </a:solidFill>
                <a:ea typeface="+mn-lt"/>
                <a:cs typeface="+mn-lt"/>
              </a:rPr>
              <a:t>Compares each blood parameter with standard reference ranges</a:t>
            </a:r>
            <a:endParaRPr lang="en-US" sz="1600" dirty="0">
              <a:solidFill>
                <a:schemeClr val="tx2"/>
              </a:solidFill>
            </a:endParaRPr>
          </a:p>
          <a:p>
            <a:r>
              <a:rPr lang="en-US" sz="1600">
                <a:solidFill>
                  <a:schemeClr val="tx2"/>
                </a:solidFill>
                <a:ea typeface="+mn-lt"/>
                <a:cs typeface="+mn-lt"/>
              </a:rPr>
              <a:t>Classifies values as </a:t>
            </a:r>
            <a:r>
              <a:rPr lang="en-US" sz="1600" b="1">
                <a:solidFill>
                  <a:schemeClr val="tx2"/>
                </a:solidFill>
                <a:ea typeface="+mn-lt"/>
                <a:cs typeface="+mn-lt"/>
              </a:rPr>
              <a:t>Normal, High, Low, or Borderline</a:t>
            </a:r>
            <a:endParaRPr lang="en-US" sz="1600" dirty="0">
              <a:solidFill>
                <a:schemeClr val="tx2"/>
              </a:solidFill>
            </a:endParaRPr>
          </a:p>
          <a:p>
            <a:r>
              <a:rPr lang="en-US" sz="1600">
                <a:solidFill>
                  <a:schemeClr val="tx2"/>
                </a:solidFill>
                <a:ea typeface="+mn-lt"/>
                <a:cs typeface="+mn-lt"/>
              </a:rPr>
              <a:t>Provides the first level of diagnostic insight</a:t>
            </a:r>
            <a:endParaRPr lang="en-US" sz="1600" dirty="0">
              <a:solidFill>
                <a:schemeClr val="tx2"/>
              </a:solidFill>
            </a:endParaRPr>
          </a:p>
          <a:p>
            <a:pPr marL="0" indent="0">
              <a:buNone/>
            </a:pPr>
            <a:r>
              <a:rPr lang="en-US" sz="1600" b="1">
                <a:solidFill>
                  <a:schemeClr val="tx2"/>
                </a:solidFill>
              </a:rPr>
              <a:t>Model 2 — Pattern Recognition &amp; Risk Assessment</a:t>
            </a:r>
          </a:p>
          <a:p>
            <a:r>
              <a:rPr lang="en-US" sz="1600">
                <a:solidFill>
                  <a:schemeClr val="tx2"/>
                </a:solidFill>
                <a:ea typeface="+mn-lt"/>
                <a:cs typeface="+mn-lt"/>
              </a:rPr>
              <a:t>Analyzes relationships between multiple parameters</a:t>
            </a:r>
            <a:endParaRPr lang="en-US" sz="1600" dirty="0">
              <a:solidFill>
                <a:schemeClr val="tx2"/>
              </a:solidFill>
            </a:endParaRPr>
          </a:p>
          <a:p>
            <a:r>
              <a:rPr lang="en-US" sz="1600">
                <a:solidFill>
                  <a:schemeClr val="tx2"/>
                </a:solidFill>
                <a:ea typeface="+mn-lt"/>
                <a:cs typeface="+mn-lt"/>
              </a:rPr>
              <a:t>Identifies patterns indicating potential health risks</a:t>
            </a:r>
            <a:br>
              <a:rPr lang="en-US" sz="1600" dirty="0">
                <a:ea typeface="+mn-lt"/>
                <a:cs typeface="+mn-lt"/>
              </a:rPr>
            </a:br>
            <a:r>
              <a:rPr lang="en-US" sz="1600">
                <a:solidFill>
                  <a:schemeClr val="tx2"/>
                </a:solidFill>
                <a:ea typeface="+mn-lt"/>
                <a:cs typeface="+mn-lt"/>
              </a:rPr>
              <a:t> (e.g., lipid profile imbalance, anemia indicators)</a:t>
            </a:r>
            <a:endParaRPr lang="en-US" sz="1600" dirty="0">
              <a:solidFill>
                <a:schemeClr val="tx2"/>
              </a:solidFill>
            </a:endParaRPr>
          </a:p>
          <a:p>
            <a:r>
              <a:rPr lang="en-US" sz="1600">
                <a:solidFill>
                  <a:schemeClr val="tx2"/>
                </a:solidFill>
                <a:ea typeface="+mn-lt"/>
                <a:cs typeface="+mn-lt"/>
              </a:rPr>
              <a:t>Calculates basic risk indicators</a:t>
            </a:r>
            <a:endParaRPr lang="en-US" sz="1600" dirty="0">
              <a:solidFill>
                <a:schemeClr val="tx2"/>
              </a:solidFill>
            </a:endParaRPr>
          </a:p>
          <a:p>
            <a:pPr marL="0" indent="0">
              <a:buNone/>
            </a:pPr>
            <a:r>
              <a:rPr lang="en-US" sz="1600" b="1">
                <a:solidFill>
                  <a:schemeClr val="tx2"/>
                </a:solidFill>
              </a:rPr>
              <a:t>Model 3 — Contextual Analysis</a:t>
            </a:r>
          </a:p>
          <a:p>
            <a:r>
              <a:rPr lang="en-US" sz="1600">
                <a:solidFill>
                  <a:schemeClr val="tx2"/>
                </a:solidFill>
                <a:ea typeface="+mn-lt"/>
                <a:cs typeface="+mn-lt"/>
              </a:rPr>
              <a:t>Uses additional user information such as</a:t>
            </a:r>
            <a:br>
              <a:rPr lang="en-US" sz="1600" dirty="0">
                <a:ea typeface="+mn-lt"/>
                <a:cs typeface="+mn-lt"/>
              </a:rPr>
            </a:br>
            <a:r>
              <a:rPr lang="en-US" sz="1600">
                <a:solidFill>
                  <a:schemeClr val="tx2"/>
                </a:solidFill>
                <a:ea typeface="+mn-lt"/>
                <a:cs typeface="+mn-lt"/>
              </a:rPr>
              <a:t> age, gender, and medical history (if available)</a:t>
            </a:r>
            <a:endParaRPr lang="en-US" sz="1600" dirty="0">
              <a:solidFill>
                <a:schemeClr val="tx2"/>
              </a:solidFill>
            </a:endParaRPr>
          </a:p>
          <a:p>
            <a:r>
              <a:rPr lang="en-US" sz="1600">
                <a:solidFill>
                  <a:schemeClr val="tx2"/>
                </a:solidFill>
                <a:ea typeface="+mn-lt"/>
                <a:cs typeface="+mn-lt"/>
              </a:rPr>
              <a:t>Refines interpretation and risk assessment</a:t>
            </a:r>
            <a:endParaRPr lang="en-US" sz="1600" dirty="0">
              <a:solidFill>
                <a:schemeClr val="tx2"/>
              </a:solidFill>
            </a:endParaRPr>
          </a:p>
          <a:p>
            <a:r>
              <a:rPr lang="en-US" sz="1600">
                <a:solidFill>
                  <a:schemeClr val="tx2"/>
                </a:solidFill>
                <a:ea typeface="+mn-lt"/>
                <a:cs typeface="+mn-lt"/>
              </a:rPr>
              <a:t>Enables personalized insights</a:t>
            </a:r>
            <a:endParaRPr lang="en-US" sz="1600" dirty="0">
              <a:solidFill>
                <a:schemeClr val="tx2"/>
              </a:solidFill>
            </a:endParaRPr>
          </a:p>
          <a:p>
            <a:endParaRPr lang="en-US" sz="1600" dirty="0">
              <a:solidFill>
                <a:schemeClr val="tx2"/>
              </a:solidFill>
            </a:endParaRPr>
          </a:p>
        </p:txBody>
      </p:sp>
    </p:spTree>
    <p:extLst>
      <p:ext uri="{BB962C8B-B14F-4D97-AF65-F5344CB8AC3E}">
        <p14:creationId xmlns:p14="http://schemas.microsoft.com/office/powerpoint/2010/main" val="311663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7415AD1-A711-9709-3082-612305DD7110}"/>
              </a:ext>
            </a:extLst>
          </p:cNvPr>
          <p:cNvSpPr>
            <a:spLocks noGrp="1"/>
          </p:cNvSpPr>
          <p:nvPr>
            <p:ph type="title"/>
          </p:nvPr>
        </p:nvSpPr>
        <p:spPr>
          <a:xfrm>
            <a:off x="640080" y="1243013"/>
            <a:ext cx="3855720" cy="4371974"/>
          </a:xfrm>
        </p:spPr>
        <p:txBody>
          <a:bodyPr>
            <a:normAutofit/>
          </a:bodyPr>
          <a:lstStyle/>
          <a:p>
            <a:r>
              <a:rPr lang="en-US" sz="3600">
                <a:solidFill>
                  <a:schemeClr val="tx2"/>
                </a:solidFill>
                <a:ea typeface="+mj-lt"/>
                <a:cs typeface="+mj-lt"/>
              </a:rPr>
              <a:t>Advantages &amp; Limitations</a:t>
            </a:r>
            <a:endParaRPr lang="en-US" sz="3600">
              <a:solidFill>
                <a:schemeClr val="tx2"/>
              </a:solidFill>
            </a:endParaRPr>
          </a:p>
        </p:txBody>
      </p:sp>
      <p:sp>
        <p:nvSpPr>
          <p:cNvPr id="3" name="Content Placeholder 2">
            <a:extLst>
              <a:ext uri="{FF2B5EF4-FFF2-40B4-BE49-F238E27FC236}">
                <a16:creationId xmlns:a16="http://schemas.microsoft.com/office/drawing/2014/main" id="{AB27E4E2-2643-FC30-0732-49B727A926FA}"/>
              </a:ext>
            </a:extLst>
          </p:cNvPr>
          <p:cNvSpPr>
            <a:spLocks noGrp="1"/>
          </p:cNvSpPr>
          <p:nvPr>
            <p:ph idx="1"/>
          </p:nvPr>
        </p:nvSpPr>
        <p:spPr>
          <a:xfrm>
            <a:off x="6172200" y="804672"/>
            <a:ext cx="5221224" cy="5230368"/>
          </a:xfrm>
        </p:spPr>
        <p:txBody>
          <a:bodyPr vert="horz" lIns="91440" tIns="45720" rIns="91440" bIns="45720" rtlCol="0" anchor="ctr">
            <a:normAutofit/>
          </a:bodyPr>
          <a:lstStyle/>
          <a:p>
            <a:pPr marL="0" indent="0">
              <a:buNone/>
            </a:pPr>
            <a:r>
              <a:rPr lang="en-US" sz="2000" b="1">
                <a:solidFill>
                  <a:schemeClr val="tx2"/>
                </a:solidFill>
                <a:ea typeface="+mn-lt"/>
                <a:cs typeface="+mn-lt"/>
              </a:rPr>
              <a:t>Advantages</a:t>
            </a:r>
            <a:endParaRPr lang="en-US" sz="2000" dirty="0">
              <a:solidFill>
                <a:schemeClr val="tx2"/>
              </a:solidFill>
            </a:endParaRPr>
          </a:p>
          <a:p>
            <a:r>
              <a:rPr lang="en-US" sz="2000">
                <a:solidFill>
                  <a:schemeClr val="tx2"/>
                </a:solidFill>
                <a:ea typeface="+mn-lt"/>
                <a:cs typeface="+mn-lt"/>
              </a:rPr>
              <a:t>Fast and automated analysis</a:t>
            </a:r>
            <a:endParaRPr lang="en-US" sz="2000" dirty="0">
              <a:solidFill>
                <a:schemeClr val="tx2"/>
              </a:solidFill>
            </a:endParaRPr>
          </a:p>
          <a:p>
            <a:r>
              <a:rPr lang="en-US" sz="2000">
                <a:solidFill>
                  <a:schemeClr val="tx2"/>
                </a:solidFill>
                <a:ea typeface="+mn-lt"/>
                <a:cs typeface="+mn-lt"/>
              </a:rPr>
              <a:t>Improves accessibility of medical insights</a:t>
            </a:r>
            <a:endParaRPr lang="en-US" sz="2000" dirty="0">
              <a:solidFill>
                <a:schemeClr val="tx2"/>
              </a:solidFill>
            </a:endParaRPr>
          </a:p>
          <a:p>
            <a:r>
              <a:rPr lang="en-US" sz="2000">
                <a:solidFill>
                  <a:schemeClr val="tx2"/>
                </a:solidFill>
                <a:ea typeface="+mn-lt"/>
                <a:cs typeface="+mn-lt"/>
              </a:rPr>
              <a:t>Supports preventive healthcare</a:t>
            </a:r>
            <a:endParaRPr lang="en-US" sz="2000" dirty="0">
              <a:solidFill>
                <a:schemeClr val="tx2"/>
              </a:solidFill>
            </a:endParaRPr>
          </a:p>
          <a:p>
            <a:r>
              <a:rPr lang="en-US" sz="2000">
                <a:solidFill>
                  <a:schemeClr val="tx2"/>
                </a:solidFill>
                <a:ea typeface="+mn-lt"/>
                <a:cs typeface="+mn-lt"/>
              </a:rPr>
              <a:t>Reduces manual effort</a:t>
            </a:r>
            <a:endParaRPr lang="en-US" sz="2000" dirty="0">
              <a:solidFill>
                <a:schemeClr val="tx2"/>
              </a:solidFill>
            </a:endParaRPr>
          </a:p>
          <a:p>
            <a:pPr marL="0" indent="0">
              <a:buNone/>
            </a:pPr>
            <a:r>
              <a:rPr lang="en-US" sz="2000" b="1">
                <a:solidFill>
                  <a:schemeClr val="tx2"/>
                </a:solidFill>
                <a:ea typeface="+mn-lt"/>
                <a:cs typeface="+mn-lt"/>
              </a:rPr>
              <a:t>Limitations</a:t>
            </a:r>
            <a:endParaRPr lang="en-US" sz="2000" dirty="0">
              <a:solidFill>
                <a:schemeClr val="tx2"/>
              </a:solidFill>
            </a:endParaRPr>
          </a:p>
          <a:p>
            <a:r>
              <a:rPr lang="en-US" sz="2000">
                <a:solidFill>
                  <a:schemeClr val="tx2"/>
                </a:solidFill>
                <a:ea typeface="+mn-lt"/>
                <a:cs typeface="+mn-lt"/>
              </a:rPr>
              <a:t>Not a replacement for professional diagnosis</a:t>
            </a:r>
            <a:endParaRPr lang="en-US" sz="2000" dirty="0">
              <a:solidFill>
                <a:schemeClr val="tx2"/>
              </a:solidFill>
            </a:endParaRPr>
          </a:p>
          <a:p>
            <a:r>
              <a:rPr lang="en-US" sz="2000">
                <a:solidFill>
                  <a:schemeClr val="tx2"/>
                </a:solidFill>
                <a:ea typeface="+mn-lt"/>
                <a:cs typeface="+mn-lt"/>
              </a:rPr>
              <a:t>Accuracy depends on report quality</a:t>
            </a:r>
            <a:endParaRPr lang="en-US" sz="2000" dirty="0">
              <a:solidFill>
                <a:schemeClr val="tx2"/>
              </a:solidFill>
            </a:endParaRPr>
          </a:p>
          <a:p>
            <a:r>
              <a:rPr lang="en-US" sz="2000">
                <a:solidFill>
                  <a:schemeClr val="tx2"/>
                </a:solidFill>
                <a:ea typeface="+mn-lt"/>
                <a:cs typeface="+mn-lt"/>
              </a:rPr>
              <a:t>Limited integration with full medical history</a:t>
            </a:r>
            <a:endParaRPr lang="en-US" sz="2000" dirty="0">
              <a:solidFill>
                <a:schemeClr val="tx2"/>
              </a:solidFill>
            </a:endParaRPr>
          </a:p>
          <a:p>
            <a:endParaRPr lang="en-US" sz="2000" dirty="0">
              <a:solidFill>
                <a:schemeClr val="tx2"/>
              </a:solidFill>
            </a:endParaRPr>
          </a:p>
        </p:txBody>
      </p:sp>
    </p:spTree>
    <p:extLst>
      <p:ext uri="{BB962C8B-B14F-4D97-AF65-F5344CB8AC3E}">
        <p14:creationId xmlns:p14="http://schemas.microsoft.com/office/powerpoint/2010/main" val="287850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9913-FB09-0CC2-7A5D-B8E3E4A8EE1B}"/>
              </a:ext>
            </a:extLst>
          </p:cNvPr>
          <p:cNvSpPr>
            <a:spLocks noGrp="1"/>
          </p:cNvSpPr>
          <p:nvPr>
            <p:ph type="title"/>
          </p:nvPr>
        </p:nvSpPr>
        <p:spPr/>
        <p:txBody>
          <a:bodyPr>
            <a:normAutofit/>
          </a:bodyPr>
          <a:lstStyle/>
          <a:p>
            <a:r>
              <a:rPr lang="en-US">
                <a:ea typeface="+mj-lt"/>
                <a:cs typeface="+mj-lt"/>
              </a:rPr>
              <a:t>Milestones</a:t>
            </a:r>
            <a:endParaRPr lang="en-US"/>
          </a:p>
        </p:txBody>
      </p:sp>
      <p:sp>
        <p:nvSpPr>
          <p:cNvPr id="4" name="Text Placeholder 3">
            <a:extLst>
              <a:ext uri="{FF2B5EF4-FFF2-40B4-BE49-F238E27FC236}">
                <a16:creationId xmlns:a16="http://schemas.microsoft.com/office/drawing/2014/main" id="{94B3A692-CCCC-57DA-5068-99BC91D1095C}"/>
              </a:ext>
            </a:extLst>
          </p:cNvPr>
          <p:cNvSpPr>
            <a:spLocks noGrp="1"/>
          </p:cNvSpPr>
          <p:nvPr>
            <p:ph type="body" idx="1"/>
          </p:nvPr>
        </p:nvSpPr>
        <p:spPr>
          <a:xfrm>
            <a:off x="839788" y="1681163"/>
            <a:ext cx="5157787" cy="634987"/>
          </a:xfr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a:lstStyle/>
          <a:p>
            <a:r>
              <a:rPr lang="en-US"/>
              <a:t>MILESTONE 1</a:t>
            </a:r>
          </a:p>
        </p:txBody>
      </p:sp>
      <p:sp>
        <p:nvSpPr>
          <p:cNvPr id="3" name="Content Placeholder 2">
            <a:extLst>
              <a:ext uri="{FF2B5EF4-FFF2-40B4-BE49-F238E27FC236}">
                <a16:creationId xmlns:a16="http://schemas.microsoft.com/office/drawing/2014/main" id="{5D68CFED-516C-F677-7C12-76317CB9B62D}"/>
              </a:ext>
            </a:extLst>
          </p:cNvPr>
          <p:cNvSpPr>
            <a:spLocks noGrp="1"/>
          </p:cNvSpPr>
          <p:nvPr>
            <p:ph sz="half" idx="2"/>
          </p:nvPr>
        </p:nvSpPr>
        <p:spPr>
          <a:xfrm>
            <a:off x="839788" y="2322447"/>
            <a:ext cx="5157787" cy="4131711"/>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fontScale="70000" lnSpcReduction="20000"/>
          </a:bodyPr>
          <a:lstStyle/>
          <a:p>
            <a:pPr marL="0" indent="0">
              <a:buNone/>
            </a:pPr>
            <a:endParaRPr lang="en-US" b="1" dirty="0">
              <a:ea typeface="+mn-lt"/>
              <a:cs typeface="+mn-lt"/>
            </a:endParaRPr>
          </a:p>
          <a:p>
            <a:pPr marL="0" indent="0">
              <a:buNone/>
            </a:pPr>
            <a:r>
              <a:rPr lang="en-US" b="1">
                <a:ea typeface="+mn-lt"/>
                <a:cs typeface="+mn-lt"/>
              </a:rPr>
              <a:t>Work Done</a:t>
            </a:r>
            <a:endParaRPr lang="en-US"/>
          </a:p>
          <a:p>
            <a:r>
              <a:rPr lang="en-US">
                <a:ea typeface="+mn-lt"/>
                <a:cs typeface="+mn-lt"/>
              </a:rPr>
              <a:t>Implemented report upload functionality</a:t>
            </a:r>
            <a:endParaRPr lang="en-US"/>
          </a:p>
          <a:p>
            <a:r>
              <a:rPr lang="en-US">
                <a:ea typeface="+mn-lt"/>
                <a:cs typeface="+mn-lt"/>
              </a:rPr>
              <a:t>Extracted parameters using OCR techniques</a:t>
            </a:r>
            <a:endParaRPr lang="en-US"/>
          </a:p>
          <a:p>
            <a:r>
              <a:rPr lang="en-US">
                <a:ea typeface="+mn-lt"/>
                <a:cs typeface="+mn-lt"/>
              </a:rPr>
              <a:t>Cleaned and standardized extracted data</a:t>
            </a:r>
            <a:endParaRPr lang="en-US"/>
          </a:p>
          <a:p>
            <a:r>
              <a:rPr lang="en-US">
                <a:ea typeface="+mn-lt"/>
                <a:cs typeface="+mn-lt"/>
              </a:rPr>
              <a:t>Classified values into Normal / High / Low</a:t>
            </a:r>
            <a:endParaRPr lang="en-US"/>
          </a:p>
          <a:p>
            <a:pPr marL="0" indent="0">
              <a:buNone/>
            </a:pPr>
            <a:r>
              <a:rPr lang="en-US" b="1">
                <a:ea typeface="+mn-lt"/>
                <a:cs typeface="+mn-lt"/>
              </a:rPr>
              <a:t>Datasets &amp; Reference Sources</a:t>
            </a:r>
            <a:endParaRPr lang="en-US"/>
          </a:p>
          <a:p>
            <a:r>
              <a:rPr lang="en-US">
                <a:ea typeface="+mn-lt"/>
                <a:cs typeface="+mn-lt"/>
              </a:rPr>
              <a:t>World Health Organization — clinical reference ranges</a:t>
            </a:r>
            <a:endParaRPr lang="en-US"/>
          </a:p>
          <a:p>
            <a:r>
              <a:rPr lang="en-US">
                <a:ea typeface="+mn-lt"/>
                <a:cs typeface="+mn-lt"/>
              </a:rPr>
              <a:t>Centers for Disease Control and Prevention — medical guidelines</a:t>
            </a:r>
            <a:endParaRPr lang="en-US"/>
          </a:p>
          <a:p>
            <a:r>
              <a:rPr lang="en-US">
                <a:ea typeface="+mn-lt"/>
                <a:cs typeface="+mn-lt"/>
              </a:rPr>
              <a:t>Kaggle — sample blood report datasets</a:t>
            </a:r>
            <a:endParaRPr lang="en-US"/>
          </a:p>
          <a:p>
            <a:endParaRPr lang="en-US" dirty="0"/>
          </a:p>
        </p:txBody>
      </p:sp>
      <p:sp>
        <p:nvSpPr>
          <p:cNvPr id="5" name="Text Placeholder 4">
            <a:extLst>
              <a:ext uri="{FF2B5EF4-FFF2-40B4-BE49-F238E27FC236}">
                <a16:creationId xmlns:a16="http://schemas.microsoft.com/office/drawing/2014/main" id="{6CB50B6F-0BEA-6862-061B-7D8F4EBEB711}"/>
              </a:ext>
            </a:extLst>
          </p:cNvPr>
          <p:cNvSpPr>
            <a:spLocks noGrp="1"/>
          </p:cNvSpPr>
          <p:nvPr>
            <p:ph type="body" sz="quarter" idx="3"/>
          </p:nvPr>
        </p:nvSpPr>
        <p:spPr>
          <a:xfrm>
            <a:off x="6140713" y="1681163"/>
            <a:ext cx="5214675" cy="641284"/>
          </a:xfr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a:lstStyle/>
          <a:p>
            <a:r>
              <a:rPr lang="en-US"/>
              <a:t>MILESTONE 2</a:t>
            </a:r>
          </a:p>
        </p:txBody>
      </p:sp>
      <p:sp>
        <p:nvSpPr>
          <p:cNvPr id="6" name="Content Placeholder 5">
            <a:extLst>
              <a:ext uri="{FF2B5EF4-FFF2-40B4-BE49-F238E27FC236}">
                <a16:creationId xmlns:a16="http://schemas.microsoft.com/office/drawing/2014/main" id="{22819B52-C3DD-CBA4-1A59-ED8CFA5D516B}"/>
              </a:ext>
            </a:extLst>
          </p:cNvPr>
          <p:cNvSpPr>
            <a:spLocks noGrp="1"/>
          </p:cNvSpPr>
          <p:nvPr>
            <p:ph sz="quarter" idx="4"/>
          </p:nvPr>
        </p:nvSpPr>
        <p:spPr>
          <a:xfrm>
            <a:off x="6153308" y="2316149"/>
            <a:ext cx="5195782" cy="4138009"/>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fontScale="70000" lnSpcReduction="20000"/>
          </a:bodyPr>
          <a:lstStyle/>
          <a:p>
            <a:endParaRPr lang="en-US" b="1" dirty="0">
              <a:ea typeface="+mn-lt"/>
              <a:cs typeface="+mn-lt"/>
            </a:endParaRPr>
          </a:p>
          <a:p>
            <a:pPr marL="0" indent="0">
              <a:buNone/>
            </a:pPr>
            <a:r>
              <a:rPr lang="en-US" b="1">
                <a:ea typeface="+mn-lt"/>
                <a:cs typeface="+mn-lt"/>
              </a:rPr>
              <a:t>Work Done</a:t>
            </a:r>
            <a:endParaRPr lang="en-US"/>
          </a:p>
          <a:p>
            <a:r>
              <a:rPr lang="en-US">
                <a:ea typeface="+mn-lt"/>
                <a:cs typeface="+mn-lt"/>
              </a:rPr>
              <a:t>Developed model to analyze parameter relationships</a:t>
            </a:r>
            <a:endParaRPr lang="en-US"/>
          </a:p>
          <a:p>
            <a:r>
              <a:rPr lang="en-US">
                <a:ea typeface="+mn-lt"/>
                <a:cs typeface="+mn-lt"/>
              </a:rPr>
              <a:t>Calculated basic health risk indicators</a:t>
            </a:r>
            <a:endParaRPr lang="en-US"/>
          </a:p>
          <a:p>
            <a:r>
              <a:rPr lang="en-US">
                <a:ea typeface="+mn-lt"/>
                <a:cs typeface="+mn-lt"/>
              </a:rPr>
              <a:t>Integrated demographic context (age/gender)</a:t>
            </a:r>
            <a:endParaRPr lang="en-US"/>
          </a:p>
          <a:p>
            <a:pPr marL="0" indent="0">
              <a:buNone/>
            </a:pPr>
            <a:endParaRPr lang="en-US" dirty="0"/>
          </a:p>
        </p:txBody>
      </p:sp>
    </p:spTree>
    <p:extLst>
      <p:ext uri="{BB962C8B-B14F-4D97-AF65-F5344CB8AC3E}">
        <p14:creationId xmlns:p14="http://schemas.microsoft.com/office/powerpoint/2010/main" val="989762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4C566748-798F-408A-E319-56BFD31BB9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CD34-39CC-B886-A0A7-6AA3109C33C8}"/>
              </a:ext>
            </a:extLst>
          </p:cNvPr>
          <p:cNvSpPr>
            <a:spLocks noGrp="1"/>
          </p:cNvSpPr>
          <p:nvPr>
            <p:ph type="title"/>
          </p:nvPr>
        </p:nvSpPr>
        <p:spPr/>
        <p:txBody>
          <a:bodyPr>
            <a:normAutofit/>
          </a:bodyPr>
          <a:lstStyle/>
          <a:p>
            <a:r>
              <a:rPr lang="en-US">
                <a:ea typeface="+mj-lt"/>
                <a:cs typeface="+mj-lt"/>
              </a:rPr>
              <a:t>Milestones</a:t>
            </a:r>
            <a:endParaRPr lang="en-US"/>
          </a:p>
        </p:txBody>
      </p:sp>
      <p:sp>
        <p:nvSpPr>
          <p:cNvPr id="4" name="Text Placeholder 3">
            <a:extLst>
              <a:ext uri="{FF2B5EF4-FFF2-40B4-BE49-F238E27FC236}">
                <a16:creationId xmlns:a16="http://schemas.microsoft.com/office/drawing/2014/main" id="{5F453D93-503C-76DF-14E7-BA28E295023B}"/>
              </a:ext>
            </a:extLst>
          </p:cNvPr>
          <p:cNvSpPr>
            <a:spLocks noGrp="1"/>
          </p:cNvSpPr>
          <p:nvPr>
            <p:ph type="body" idx="1"/>
          </p:nvPr>
        </p:nvSpPr>
        <p:spPr>
          <a:xfrm>
            <a:off x="839788" y="1681163"/>
            <a:ext cx="5157787" cy="634987"/>
          </a:xfr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a:lstStyle/>
          <a:p>
            <a:r>
              <a:rPr lang="en-US"/>
              <a:t>MILESTONE 3</a:t>
            </a:r>
          </a:p>
        </p:txBody>
      </p:sp>
      <p:sp>
        <p:nvSpPr>
          <p:cNvPr id="3" name="Content Placeholder 2">
            <a:extLst>
              <a:ext uri="{FF2B5EF4-FFF2-40B4-BE49-F238E27FC236}">
                <a16:creationId xmlns:a16="http://schemas.microsoft.com/office/drawing/2014/main" id="{22837C70-6AA7-1AF2-644F-99059DD64ED5}"/>
              </a:ext>
            </a:extLst>
          </p:cNvPr>
          <p:cNvSpPr>
            <a:spLocks noGrp="1"/>
          </p:cNvSpPr>
          <p:nvPr>
            <p:ph sz="half" idx="2"/>
          </p:nvPr>
        </p:nvSpPr>
        <p:spPr>
          <a:xfrm>
            <a:off x="839788" y="2322447"/>
            <a:ext cx="5157787" cy="4131711"/>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buNone/>
            </a:pPr>
            <a:endParaRPr lang="en-US" b="1" dirty="0">
              <a:ea typeface="+mn-lt"/>
              <a:cs typeface="+mn-lt"/>
            </a:endParaRPr>
          </a:p>
          <a:p>
            <a:pPr>
              <a:buNone/>
            </a:pPr>
            <a:r>
              <a:rPr lang="en-US" sz="2400" b="1">
                <a:ea typeface="+mn-lt"/>
                <a:cs typeface="+mn-lt"/>
              </a:rPr>
              <a:t>Work Done</a:t>
            </a:r>
            <a:endParaRPr lang="en-US" sz="2400"/>
          </a:p>
          <a:p>
            <a:pPr>
              <a:buFont typeface="Arial"/>
              <a:buChar char="•"/>
            </a:pPr>
            <a:r>
              <a:rPr lang="en-US" sz="2400">
                <a:ea typeface="+mn-lt"/>
                <a:cs typeface="+mn-lt"/>
              </a:rPr>
              <a:t>Combined outputs of multiple models</a:t>
            </a:r>
            <a:endParaRPr lang="en-US" sz="2400"/>
          </a:p>
          <a:p>
            <a:pPr>
              <a:buFont typeface="Arial"/>
              <a:buChar char="•"/>
            </a:pPr>
            <a:r>
              <a:rPr lang="en-US" sz="2400">
                <a:ea typeface="+mn-lt"/>
                <a:cs typeface="+mn-lt"/>
              </a:rPr>
              <a:t>Generated clear summary of findings</a:t>
            </a:r>
            <a:endParaRPr lang="en-US" sz="2400"/>
          </a:p>
          <a:p>
            <a:pPr>
              <a:buFont typeface="Arial"/>
              <a:buChar char="•"/>
            </a:pPr>
            <a:r>
              <a:rPr lang="en-US" sz="2400">
                <a:ea typeface="+mn-lt"/>
                <a:cs typeface="+mn-lt"/>
              </a:rPr>
              <a:t>Provided personalized health suggestions</a:t>
            </a:r>
            <a:endParaRPr lang="en-US" sz="2400"/>
          </a:p>
          <a:p>
            <a:pPr marL="0" indent="0">
              <a:buNone/>
            </a:pPr>
            <a:endParaRPr lang="en-US" b="1" dirty="0">
              <a:ea typeface="+mn-lt"/>
              <a:cs typeface="+mn-lt"/>
            </a:endParaRPr>
          </a:p>
          <a:p>
            <a:pPr marL="0" indent="0">
              <a:buNone/>
            </a:pPr>
            <a:endParaRPr lang="en-US"/>
          </a:p>
        </p:txBody>
      </p:sp>
      <p:sp>
        <p:nvSpPr>
          <p:cNvPr id="5" name="Text Placeholder 4">
            <a:extLst>
              <a:ext uri="{FF2B5EF4-FFF2-40B4-BE49-F238E27FC236}">
                <a16:creationId xmlns:a16="http://schemas.microsoft.com/office/drawing/2014/main" id="{2AA3C8A2-2B86-F218-FA31-C905F6733B89}"/>
              </a:ext>
            </a:extLst>
          </p:cNvPr>
          <p:cNvSpPr>
            <a:spLocks noGrp="1"/>
          </p:cNvSpPr>
          <p:nvPr>
            <p:ph type="body" sz="quarter" idx="3"/>
          </p:nvPr>
        </p:nvSpPr>
        <p:spPr>
          <a:xfrm>
            <a:off x="6140713" y="1681163"/>
            <a:ext cx="5214675" cy="641284"/>
          </a:xfr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a:lstStyle/>
          <a:p>
            <a:r>
              <a:rPr lang="en-US"/>
              <a:t>MILESTONE 4</a:t>
            </a:r>
          </a:p>
        </p:txBody>
      </p:sp>
      <p:sp>
        <p:nvSpPr>
          <p:cNvPr id="6" name="Content Placeholder 5">
            <a:extLst>
              <a:ext uri="{FF2B5EF4-FFF2-40B4-BE49-F238E27FC236}">
                <a16:creationId xmlns:a16="http://schemas.microsoft.com/office/drawing/2014/main" id="{BCD0DBCC-DA76-2311-42CA-F8A48FACF2E4}"/>
              </a:ext>
            </a:extLst>
          </p:cNvPr>
          <p:cNvSpPr>
            <a:spLocks noGrp="1"/>
          </p:cNvSpPr>
          <p:nvPr>
            <p:ph sz="quarter" idx="4"/>
          </p:nvPr>
        </p:nvSpPr>
        <p:spPr>
          <a:xfrm>
            <a:off x="6153308" y="2316149"/>
            <a:ext cx="5195782" cy="4138009"/>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0" indent="0">
              <a:buNone/>
            </a:pPr>
            <a:endParaRPr lang="en-US" b="1" dirty="0">
              <a:ea typeface="+mn-lt"/>
              <a:cs typeface="+mn-lt"/>
            </a:endParaRPr>
          </a:p>
          <a:p>
            <a:pPr marL="0" indent="0">
              <a:buNone/>
            </a:pPr>
            <a:r>
              <a:rPr lang="en-US" sz="2400" b="1">
                <a:ea typeface="+mn-lt"/>
                <a:cs typeface="+mn-lt"/>
              </a:rPr>
              <a:t>Work Done</a:t>
            </a:r>
            <a:endParaRPr lang="en-US" sz="2400"/>
          </a:p>
          <a:p>
            <a:r>
              <a:rPr lang="en-US" sz="2400">
                <a:ea typeface="+mn-lt"/>
                <a:cs typeface="+mn-lt"/>
              </a:rPr>
              <a:t>Integrated all modules into a single pipeline</a:t>
            </a:r>
            <a:endParaRPr lang="en-US" sz="2400"/>
          </a:p>
          <a:p>
            <a:r>
              <a:rPr lang="en-US" sz="2400">
                <a:ea typeface="+mn-lt"/>
                <a:cs typeface="+mn-lt"/>
              </a:rPr>
              <a:t>Generated final user-friendly report</a:t>
            </a:r>
            <a:endParaRPr lang="en-US" sz="2400"/>
          </a:p>
          <a:p>
            <a:r>
              <a:rPr lang="en-US" sz="2400">
                <a:ea typeface="+mn-lt"/>
                <a:cs typeface="+mn-lt"/>
              </a:rPr>
              <a:t>Added medical disclaimer</a:t>
            </a:r>
            <a:endParaRPr lang="en-US" sz="2400"/>
          </a:p>
          <a:p>
            <a:r>
              <a:rPr lang="en-US" sz="2400">
                <a:ea typeface="+mn-lt"/>
                <a:cs typeface="+mn-lt"/>
              </a:rPr>
              <a:t>Performed end-to-end testing</a:t>
            </a:r>
            <a:endParaRPr lang="en-US" sz="2400"/>
          </a:p>
          <a:p>
            <a:endParaRPr lang="en-US" dirty="0"/>
          </a:p>
        </p:txBody>
      </p:sp>
    </p:spTree>
    <p:extLst>
      <p:ext uri="{BB962C8B-B14F-4D97-AF65-F5344CB8AC3E}">
        <p14:creationId xmlns:p14="http://schemas.microsoft.com/office/powerpoint/2010/main" val="3854975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3" name="Group 12">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4" name="Freeform: Shape 13">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7810BB37-F672-2CB0-74C4-B56BEFBFE5D1}"/>
              </a:ext>
            </a:extLst>
          </p:cNvPr>
          <p:cNvSpPr>
            <a:spLocks noGrp="1"/>
          </p:cNvSpPr>
          <p:nvPr>
            <p:ph type="title"/>
          </p:nvPr>
        </p:nvSpPr>
        <p:spPr>
          <a:xfrm>
            <a:off x="640080" y="1243013"/>
            <a:ext cx="3855720" cy="4371974"/>
          </a:xfrm>
        </p:spPr>
        <p:txBody>
          <a:bodyPr>
            <a:normAutofit/>
          </a:bodyPr>
          <a:lstStyle/>
          <a:p>
            <a:r>
              <a:rPr lang="en-US" sz="3600">
                <a:solidFill>
                  <a:schemeClr val="tx2"/>
                </a:solidFill>
                <a:ea typeface="+mj-lt"/>
                <a:cs typeface="+mj-lt"/>
              </a:rPr>
              <a:t>Results and Conclusion:</a:t>
            </a:r>
            <a:endParaRPr lang="en-US" sz="3600">
              <a:solidFill>
                <a:schemeClr val="tx2"/>
              </a:solidFill>
            </a:endParaRPr>
          </a:p>
        </p:txBody>
      </p:sp>
      <p:sp>
        <p:nvSpPr>
          <p:cNvPr id="4" name="Content Placeholder 3">
            <a:extLst>
              <a:ext uri="{FF2B5EF4-FFF2-40B4-BE49-F238E27FC236}">
                <a16:creationId xmlns:a16="http://schemas.microsoft.com/office/drawing/2014/main" id="{347AB183-28CC-15AC-8EBF-53A7FB96E3C6}"/>
              </a:ext>
            </a:extLst>
          </p:cNvPr>
          <p:cNvSpPr>
            <a:spLocks noGrp="1"/>
          </p:cNvSpPr>
          <p:nvPr>
            <p:ph idx="1"/>
          </p:nvPr>
        </p:nvSpPr>
        <p:spPr>
          <a:xfrm>
            <a:off x="5194540" y="869371"/>
            <a:ext cx="6515186" cy="5510726"/>
          </a:xfrm>
        </p:spPr>
        <p:txBody>
          <a:bodyPr vert="horz" lIns="91440" tIns="45720" rIns="91440" bIns="45720" rtlCol="0" anchor="ctr">
            <a:noAutofit/>
          </a:bodyPr>
          <a:lstStyle/>
          <a:p>
            <a:pPr marL="0" indent="0">
              <a:buNone/>
            </a:pPr>
            <a:r>
              <a:rPr lang="en-US" sz="2200">
                <a:solidFill>
                  <a:schemeClr val="tx2"/>
                </a:solidFill>
                <a:ea typeface="+mn-lt"/>
                <a:cs typeface="+mn-lt"/>
              </a:rPr>
              <a:t>The system successfully:</a:t>
            </a:r>
            <a:endParaRPr lang="en-US" sz="2200" dirty="0">
              <a:solidFill>
                <a:schemeClr val="tx2"/>
              </a:solidFill>
            </a:endParaRPr>
          </a:p>
          <a:p>
            <a:r>
              <a:rPr lang="en-US" sz="2200">
                <a:solidFill>
                  <a:schemeClr val="tx2"/>
                </a:solidFill>
                <a:ea typeface="+mn-lt"/>
                <a:cs typeface="+mn-lt"/>
              </a:rPr>
              <a:t>Reads and interprets blood reports automatically</a:t>
            </a:r>
            <a:endParaRPr lang="en-US" sz="2200" dirty="0">
              <a:solidFill>
                <a:schemeClr val="tx2"/>
              </a:solidFill>
            </a:endParaRPr>
          </a:p>
          <a:p>
            <a:r>
              <a:rPr lang="en-US" sz="2200">
                <a:solidFill>
                  <a:schemeClr val="tx2"/>
                </a:solidFill>
                <a:ea typeface="+mn-lt"/>
                <a:cs typeface="+mn-lt"/>
              </a:rPr>
              <a:t>Highlights abnormal parameters</a:t>
            </a:r>
            <a:endParaRPr lang="en-US" sz="2200" dirty="0">
              <a:solidFill>
                <a:schemeClr val="tx2"/>
              </a:solidFill>
            </a:endParaRPr>
          </a:p>
          <a:p>
            <a:r>
              <a:rPr lang="en-US" sz="2200" dirty="0">
                <a:solidFill>
                  <a:schemeClr val="tx2"/>
                </a:solidFill>
                <a:ea typeface="+mn-lt"/>
                <a:cs typeface="+mn-lt"/>
              </a:rPr>
              <a:t>Identifies potential health risks</a:t>
            </a:r>
            <a:endParaRPr lang="en-US" sz="2200" dirty="0">
              <a:solidFill>
                <a:schemeClr val="tx2"/>
              </a:solidFill>
            </a:endParaRPr>
          </a:p>
          <a:p>
            <a:r>
              <a:rPr lang="en-US" sz="2200">
                <a:solidFill>
                  <a:schemeClr val="tx2"/>
                </a:solidFill>
                <a:ea typeface="+mn-lt"/>
                <a:cs typeface="+mn-lt"/>
              </a:rPr>
              <a:t>Generates personalized lifestyle suggestions</a:t>
            </a:r>
            <a:endParaRPr lang="en-US" sz="2200" dirty="0">
              <a:solidFill>
                <a:schemeClr val="tx2"/>
              </a:solidFill>
            </a:endParaRPr>
          </a:p>
          <a:p>
            <a:r>
              <a:rPr lang="en-US" sz="2200">
                <a:solidFill>
                  <a:schemeClr val="tx2"/>
                </a:solidFill>
                <a:ea typeface="+mn-lt"/>
                <a:cs typeface="+mn-lt"/>
              </a:rPr>
              <a:t>The output is presented as a structured and easy-to-understand report.</a:t>
            </a:r>
            <a:endParaRPr lang="en-US" sz="2200" dirty="0">
              <a:solidFill>
                <a:schemeClr val="tx2"/>
              </a:solidFill>
            </a:endParaRPr>
          </a:p>
          <a:p>
            <a:pPr algn="ctr">
              <a:buNone/>
            </a:pPr>
            <a:r>
              <a:rPr lang="en-US" sz="2200" dirty="0">
                <a:solidFill>
                  <a:schemeClr val="tx2"/>
                </a:solidFill>
                <a:ea typeface="+mn-lt"/>
                <a:cs typeface="+mn-lt"/>
              </a:rPr>
              <a:t>This project demonstrates how </a:t>
            </a:r>
            <a:r>
              <a:rPr lang="en-US" sz="2200" b="1" dirty="0">
                <a:solidFill>
                  <a:schemeClr val="tx2"/>
                </a:solidFill>
                <a:ea typeface="+mn-lt"/>
                <a:cs typeface="+mn-lt"/>
              </a:rPr>
              <a:t>multimodal AI can enhance healthcare diagnostics</a:t>
            </a:r>
            <a:r>
              <a:rPr lang="en-US" sz="2200" dirty="0">
                <a:solidFill>
                  <a:schemeClr val="tx2"/>
                </a:solidFill>
                <a:ea typeface="+mn-lt"/>
                <a:cs typeface="+mn-lt"/>
              </a:rPr>
              <a:t> by automating blood report interpretation and providing meaningful insights.</a:t>
            </a:r>
            <a:endParaRPr lang="en-US" sz="2200" dirty="0">
              <a:solidFill>
                <a:schemeClr val="tx2"/>
              </a:solidFill>
            </a:endParaRPr>
          </a:p>
          <a:p>
            <a:pPr algn="ctr">
              <a:buNone/>
            </a:pPr>
            <a:r>
              <a:rPr lang="en-US" sz="2200">
                <a:solidFill>
                  <a:schemeClr val="tx2"/>
                </a:solidFill>
                <a:ea typeface="+mn-lt"/>
                <a:cs typeface="+mn-lt"/>
              </a:rPr>
              <a:t>The system improves understanding of medical data and has strong potential to support early detection and preventive healthcare practices.</a:t>
            </a:r>
            <a:endParaRPr lang="en-US" sz="2200" dirty="0">
              <a:solidFill>
                <a:schemeClr val="tx2"/>
              </a:solidFill>
            </a:endParaRPr>
          </a:p>
          <a:p>
            <a:pPr marL="0" indent="0">
              <a:buNone/>
            </a:pPr>
            <a:endParaRPr lang="en-US" sz="2200" dirty="0">
              <a:solidFill>
                <a:schemeClr val="tx2"/>
              </a:solidFill>
            </a:endParaRPr>
          </a:p>
          <a:p>
            <a:endParaRPr lang="en-US" sz="2200" dirty="0">
              <a:solidFill>
                <a:schemeClr val="tx2"/>
              </a:solidFill>
            </a:endParaRPr>
          </a:p>
        </p:txBody>
      </p:sp>
    </p:spTree>
    <p:extLst>
      <p:ext uri="{BB962C8B-B14F-4D97-AF65-F5344CB8AC3E}">
        <p14:creationId xmlns:p14="http://schemas.microsoft.com/office/powerpoint/2010/main" val="2633436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INTRODUCTION</vt:lpstr>
      <vt:lpstr>Project Overview &amp; Objectives</vt:lpstr>
      <vt:lpstr>Problem Statement</vt:lpstr>
      <vt:lpstr>System Workflow</vt:lpstr>
      <vt:lpstr>Multimodal AI Approach</vt:lpstr>
      <vt:lpstr>Advantages &amp; Limitations</vt:lpstr>
      <vt:lpstr>Milestones</vt:lpstr>
      <vt:lpstr>Milestones</vt:lpstr>
      <vt:lpstr>Results and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152</cp:revision>
  <dcterms:created xsi:type="dcterms:W3CDTF">2026-02-21T11:41:44Z</dcterms:created>
  <dcterms:modified xsi:type="dcterms:W3CDTF">2026-02-22T16:10:17Z</dcterms:modified>
</cp:coreProperties>
</file>