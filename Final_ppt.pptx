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" charset="1" panose="00000000000000000000"/>
      <p:regular r:id="rId20"/>
    </p:embeddedFont>
    <p:embeddedFont>
      <p:font typeface="Inter" charset="1" panose="0200050300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459956"/>
            <a:ext cx="16778252" cy="79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3"/>
              </a:lnSpc>
            </a:pPr>
            <a:r>
              <a:rPr lang="en-US" sz="5062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5062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ulti-Model AI Agent for Automated Health Diagnostics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713980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Modular AI System for Automated Blood Report Interpretation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486552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Presented by: Vansh Siddhpura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259116"/>
            <a:ext cx="16303523" cy="41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Infosys Springboard Internship Program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060202"/>
            <a:ext cx="8491985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Problem Statement &amp; Objective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213174"/>
            <a:ext cx="8009934" cy="2994574"/>
            <a:chOff x="0" y="0"/>
            <a:chExt cx="10679913" cy="39927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811" cy="3992753"/>
            </a:xfrm>
            <a:custGeom>
              <a:avLst/>
              <a:gdLst/>
              <a:ahLst/>
              <a:cxnLst/>
              <a:rect r="r" b="b" t="t" l="l"/>
              <a:pathLst>
                <a:path h="3992753" w="10679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3936111"/>
                  </a:lnTo>
                  <a:cubicBezTo>
                    <a:pt x="10679811" y="3967480"/>
                    <a:pt x="10654411" y="3992753"/>
                    <a:pt x="10623169" y="3992753"/>
                  </a:cubicBezTo>
                  <a:lnTo>
                    <a:pt x="56642" y="3992753"/>
                  </a:lnTo>
                  <a:cubicBezTo>
                    <a:pt x="25273" y="3992753"/>
                    <a:pt x="0" y="3967353"/>
                    <a:pt x="0" y="3936111"/>
                  </a:cubicBezTo>
                  <a:close/>
                </a:path>
              </a:pathLst>
            </a:custGeom>
            <a:solidFill>
              <a:srgbClr val="EDEBE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5759" y="448717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9" y="5023990"/>
            <a:ext cx="7442892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Blood reports are hard to interpret for non-clinical users; reports arrive in heterogeneous formats (PDF, image scans, JSON). Manual review requires medical expertise and is time-consuming.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85684" y="4213174"/>
            <a:ext cx="8010077" cy="2994574"/>
            <a:chOff x="0" y="0"/>
            <a:chExt cx="10680103" cy="39927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80065" cy="3992753"/>
            </a:xfrm>
            <a:custGeom>
              <a:avLst/>
              <a:gdLst/>
              <a:ahLst/>
              <a:cxnLst/>
              <a:rect r="r" b="b" t="t" l="l"/>
              <a:pathLst>
                <a:path h="3992753" w="10680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3936111"/>
                  </a:lnTo>
                  <a:cubicBezTo>
                    <a:pt x="10680065" y="3967480"/>
                    <a:pt x="10654665" y="3992753"/>
                    <a:pt x="10623423" y="3992753"/>
                  </a:cubicBezTo>
                  <a:lnTo>
                    <a:pt x="56642" y="3992753"/>
                  </a:lnTo>
                  <a:cubicBezTo>
                    <a:pt x="25273" y="3992753"/>
                    <a:pt x="0" y="3967353"/>
                    <a:pt x="0" y="3936111"/>
                  </a:cubicBezTo>
                  <a:close/>
                </a:path>
              </a:pathLst>
            </a:custGeom>
            <a:solidFill>
              <a:srgbClr val="EDEBE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69206" y="448717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Objective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69206" y="5023990"/>
            <a:ext cx="744304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Build an automated pipeline to interpret blood reports, detect clinical patterns, quantify risk, and produce structured, evidence-aligned recommendations for users and clinicians.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645" y="675237"/>
            <a:ext cx="5118649" cy="66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Data Sources &amp; OCR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5645" y="4003329"/>
            <a:ext cx="3199057" cy="41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Input Sources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5645" y="4586583"/>
            <a:ext cx="5367928" cy="170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Laboratory reports (sample development corpus)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Formats: JSON exports, machine PDFs, scanned images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645" y="6433842"/>
            <a:ext cx="5367928" cy="84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Ensuring broad coverage of real-world report formats improves model robustness.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97586" y="1901876"/>
            <a:ext cx="3199057" cy="41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OCR: Role &amp; 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97586" y="2485130"/>
            <a:ext cx="10504284" cy="84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Optical Character Recognition converts image/PDF text to machine-readable text, enabling downstream parsing, normalization, and structured extraction.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958908" y="3590925"/>
            <a:ext cx="10381507" cy="4751184"/>
            <a:chOff x="0" y="0"/>
            <a:chExt cx="13842009" cy="63349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841985" cy="6334887"/>
            </a:xfrm>
            <a:custGeom>
              <a:avLst/>
              <a:gdLst/>
              <a:ahLst/>
              <a:cxnLst/>
              <a:rect r="r" b="b" t="t" l="l"/>
              <a:pathLst>
                <a:path h="6334887" w="13841985">
                  <a:moveTo>
                    <a:pt x="0" y="0"/>
                  </a:moveTo>
                  <a:lnTo>
                    <a:pt x="13841985" y="0"/>
                  </a:lnTo>
                  <a:lnTo>
                    <a:pt x="13841985" y="6334887"/>
                  </a:lnTo>
                  <a:lnTo>
                    <a:pt x="0" y="6334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" r="0" b="-15"/>
              </a:stretch>
            </a:blip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5502700" y="4777168"/>
            <a:ext cx="667474" cy="667474"/>
          </a:xfrm>
          <a:custGeom>
            <a:avLst/>
            <a:gdLst/>
            <a:ahLst/>
            <a:cxnLst/>
            <a:rect r="r" b="b" t="t" l="l"/>
            <a:pathLst>
              <a:path h="667474" w="667474">
                <a:moveTo>
                  <a:pt x="0" y="0"/>
                </a:moveTo>
                <a:lnTo>
                  <a:pt x="667473" y="0"/>
                </a:lnTo>
                <a:lnTo>
                  <a:pt x="667473" y="667474"/>
                </a:lnTo>
                <a:lnTo>
                  <a:pt x="0" y="6674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605" t="0" r="-1760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908025" y="7007076"/>
            <a:ext cx="1949015" cy="76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Structured Data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3059127" y="4778426"/>
            <a:ext cx="667474" cy="667474"/>
          </a:xfrm>
          <a:custGeom>
            <a:avLst/>
            <a:gdLst/>
            <a:ahLst/>
            <a:cxnLst/>
            <a:rect r="r" b="b" t="t" l="l"/>
            <a:pathLst>
              <a:path h="667474" w="667474">
                <a:moveTo>
                  <a:pt x="0" y="0"/>
                </a:moveTo>
                <a:lnTo>
                  <a:pt x="667474" y="0"/>
                </a:lnTo>
                <a:lnTo>
                  <a:pt x="667474" y="667474"/>
                </a:lnTo>
                <a:lnTo>
                  <a:pt x="0" y="667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562" r="0" b="-1056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51728" y="7007076"/>
            <a:ext cx="1949015" cy="76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Extracted Text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0616184" y="4778426"/>
            <a:ext cx="667474" cy="667474"/>
          </a:xfrm>
          <a:custGeom>
            <a:avLst/>
            <a:gdLst/>
            <a:ahLst/>
            <a:cxnLst/>
            <a:rect r="r" b="b" t="t" l="l"/>
            <a:pathLst>
              <a:path h="667474" w="667474">
                <a:moveTo>
                  <a:pt x="0" y="0"/>
                </a:moveTo>
                <a:lnTo>
                  <a:pt x="667474" y="0"/>
                </a:lnTo>
                <a:lnTo>
                  <a:pt x="667474" y="667474"/>
                </a:lnTo>
                <a:lnTo>
                  <a:pt x="0" y="6674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03" r="0" b="-70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008784" y="7194804"/>
            <a:ext cx="1949015" cy="39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OCR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8159887" y="4778426"/>
            <a:ext cx="667474" cy="667474"/>
          </a:xfrm>
          <a:custGeom>
            <a:avLst/>
            <a:gdLst/>
            <a:ahLst/>
            <a:cxnLst/>
            <a:rect r="r" b="b" t="t" l="l"/>
            <a:pathLst>
              <a:path h="667474" w="667474">
                <a:moveTo>
                  <a:pt x="0" y="0"/>
                </a:moveTo>
                <a:lnTo>
                  <a:pt x="667473" y="0"/>
                </a:lnTo>
                <a:lnTo>
                  <a:pt x="667473" y="667474"/>
                </a:lnTo>
                <a:lnTo>
                  <a:pt x="0" y="6674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154" r="0" b="-915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512444" y="7194804"/>
            <a:ext cx="1949015" cy="39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Report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97586" y="8535295"/>
            <a:ext cx="10504284" cy="84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OCR accuracy is a gating factor; preprocessing (de-skew, enhance) improves extraction rates.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906611"/>
            <a:ext cx="7773743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Data Extraction &amp; 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964334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503391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8282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711751"/>
            <a:ext cx="401121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Regex-Based Extraction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248570"/>
            <a:ext cx="5245446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Pattern-driven extraction locates parameter names, numeric values, and units across noisy layouts.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3964334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4503391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8282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4711751"/>
            <a:ext cx="4043067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Parameter Identification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5248570"/>
            <a:ext cx="524544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Assign canonical parameter IDs (e.g., Hemoglobin → HGB) to support downstream logic and mapping across lab vocabularies.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3964334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4503391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8282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4711751"/>
            <a:ext cx="474077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Validation &amp; Standardization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5248570"/>
            <a:ext cx="524544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Unit normalization, value sanity checks, and handling of formatting variants (commas, ranges, flags) ensure consistent structured data.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881782" y="2519953"/>
            <a:ext cx="14524437" cy="6696877"/>
          </a:xfrm>
          <a:custGeom>
            <a:avLst/>
            <a:gdLst/>
            <a:ahLst/>
            <a:cxnLst/>
            <a:rect r="r" b="b" t="t" l="l"/>
            <a:pathLst>
              <a:path h="6696877" w="14524437">
                <a:moveTo>
                  <a:pt x="0" y="0"/>
                </a:moveTo>
                <a:lnTo>
                  <a:pt x="14524436" y="0"/>
                </a:lnTo>
                <a:lnTo>
                  <a:pt x="14524436" y="6696877"/>
                </a:lnTo>
                <a:lnTo>
                  <a:pt x="0" y="66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42" t="0" r="0" b="-2757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25291" y="574329"/>
            <a:ext cx="5771559" cy="62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Overall System Workflow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25291" y="1379487"/>
            <a:ext cx="13637419" cy="56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End-to-end pipeline: Ingestion → Extraction &amp; Validation → Interpretation models → Pattern detection → Contextual analysis → Risk scoring → Recommendation generation → Final structured report.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25291" y="2070792"/>
            <a:ext cx="13637419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Modular orchestration enables independent testing, versioning, and failover for each stage.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639195"/>
            <a:ext cx="5256457" cy="7008609"/>
            <a:chOff x="0" y="0"/>
            <a:chExt cx="7008609" cy="934481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008622" cy="9344787"/>
            </a:xfrm>
            <a:custGeom>
              <a:avLst/>
              <a:gdLst/>
              <a:ahLst/>
              <a:cxnLst/>
              <a:rect r="r" b="b" t="t" l="l"/>
              <a:pathLst>
                <a:path h="9344787" w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9344787"/>
                  </a:lnTo>
                  <a:lnTo>
                    <a:pt x="0" y="9344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949973" y="3132982"/>
            <a:ext cx="9395069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Model 1 — Parameter 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9973" y="4058545"/>
            <a:ext cx="10355161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Model 1 maps each extracted value to medical reference ranges and classifies results as Low, Normal, High, or Borderline using rule-based thresholds informed by source lab metadata.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9973" y="5674519"/>
            <a:ext cx="10355161" cy="16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Reference-range lookup (lab-specific when available)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Age- and sex-aware baseline selection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Deterministic rule logic forms the interpretation foundation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3684" y="974379"/>
            <a:ext cx="10491940" cy="5855941"/>
            <a:chOff x="0" y="0"/>
            <a:chExt cx="13989253" cy="780792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989304" cy="7807960"/>
            </a:xfrm>
            <a:custGeom>
              <a:avLst/>
              <a:gdLst/>
              <a:ahLst/>
              <a:cxnLst/>
              <a:rect r="r" b="b" t="t" l="l"/>
              <a:pathLst>
                <a:path h="7807960" w="13989304">
                  <a:moveTo>
                    <a:pt x="0" y="0"/>
                  </a:moveTo>
                  <a:lnTo>
                    <a:pt x="13989304" y="0"/>
                  </a:lnTo>
                  <a:lnTo>
                    <a:pt x="13989304" y="7807960"/>
                  </a:lnTo>
                  <a:lnTo>
                    <a:pt x="0" y="780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t="0" r="-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34990" y="1894732"/>
            <a:ext cx="5358708" cy="260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Model 2 &amp; Model 3 — Pattern Detection and Contextual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4990" y="4663973"/>
            <a:ext cx="5358708" cy="125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Combined outputs feed a synthesis layer that balances per-parameter flags with multi-parameter patterns.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3684" y="7359253"/>
            <a:ext cx="8122739" cy="2244176"/>
            <a:chOff x="0" y="0"/>
            <a:chExt cx="10830319" cy="29922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30306" cy="2992247"/>
            </a:xfrm>
            <a:custGeom>
              <a:avLst/>
              <a:gdLst/>
              <a:ahLst/>
              <a:cxnLst/>
              <a:rect r="r" b="b" t="t" l="l"/>
              <a:pathLst>
                <a:path h="2992247" w="10830306">
                  <a:moveTo>
                    <a:pt x="0" y="51689"/>
                  </a:moveTo>
                  <a:cubicBezTo>
                    <a:pt x="0" y="23114"/>
                    <a:pt x="23114" y="0"/>
                    <a:pt x="51689" y="0"/>
                  </a:cubicBezTo>
                  <a:lnTo>
                    <a:pt x="10778617" y="0"/>
                  </a:lnTo>
                  <a:cubicBezTo>
                    <a:pt x="10807192" y="0"/>
                    <a:pt x="10830306" y="23114"/>
                    <a:pt x="10830306" y="51689"/>
                  </a:cubicBezTo>
                  <a:lnTo>
                    <a:pt x="10830306" y="2940558"/>
                  </a:lnTo>
                  <a:cubicBezTo>
                    <a:pt x="10830306" y="2969133"/>
                    <a:pt x="10807192" y="2992247"/>
                    <a:pt x="10778617" y="2992247"/>
                  </a:cubicBezTo>
                  <a:lnTo>
                    <a:pt x="51689" y="2992247"/>
                  </a:lnTo>
                  <a:cubicBezTo>
                    <a:pt x="23114" y="2992247"/>
                    <a:pt x="0" y="2969133"/>
                    <a:pt x="0" y="2940558"/>
                  </a:cubicBezTo>
                  <a:close/>
                </a:path>
              </a:pathLst>
            </a:custGeom>
            <a:solidFill>
              <a:srgbClr val="EDEBE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51314" y="7598273"/>
            <a:ext cx="3227337" cy="4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Pattern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1755" y="8095059"/>
            <a:ext cx="7606608" cy="125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0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Identifies co-occurring abnormalities (e.g., Low HGB + Low RBC → anemia pattern) and assigns confidence scores to pattern matches.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1424" y="7359253"/>
            <a:ext cx="8122891" cy="2244176"/>
            <a:chOff x="0" y="0"/>
            <a:chExt cx="10830522" cy="29922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30560" cy="2992247"/>
            </a:xfrm>
            <a:custGeom>
              <a:avLst/>
              <a:gdLst/>
              <a:ahLst/>
              <a:cxnLst/>
              <a:rect r="r" b="b" t="t" l="l"/>
              <a:pathLst>
                <a:path h="2992247" w="10830560">
                  <a:moveTo>
                    <a:pt x="0" y="51689"/>
                  </a:moveTo>
                  <a:cubicBezTo>
                    <a:pt x="0" y="23114"/>
                    <a:pt x="23114" y="0"/>
                    <a:pt x="51689" y="0"/>
                  </a:cubicBezTo>
                  <a:lnTo>
                    <a:pt x="10778871" y="0"/>
                  </a:lnTo>
                  <a:cubicBezTo>
                    <a:pt x="10807446" y="0"/>
                    <a:pt x="10830560" y="23114"/>
                    <a:pt x="10830560" y="51689"/>
                  </a:cubicBezTo>
                  <a:lnTo>
                    <a:pt x="10830560" y="2940558"/>
                  </a:lnTo>
                  <a:cubicBezTo>
                    <a:pt x="10830560" y="2969133"/>
                    <a:pt x="10807446" y="2992247"/>
                    <a:pt x="10778871" y="2992247"/>
                  </a:cubicBezTo>
                  <a:lnTo>
                    <a:pt x="51689" y="2992247"/>
                  </a:lnTo>
                  <a:cubicBezTo>
                    <a:pt x="23114" y="2992247"/>
                    <a:pt x="0" y="2969133"/>
                    <a:pt x="0" y="2940558"/>
                  </a:cubicBezTo>
                  <a:close/>
                </a:path>
              </a:pathLst>
            </a:custGeom>
            <a:solidFill>
              <a:srgbClr val="EDEBE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709197" y="7598273"/>
            <a:ext cx="3227337" cy="4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Contextual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19495" y="8095059"/>
            <a:ext cx="7606751" cy="125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0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Adjusts interpretation using demographic context (age, sex) and historical values, refining thresholds and reducing false positives.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958606"/>
            <a:ext cx="7810652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Risk Assessment &amp; Synthesis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31188" y="2092528"/>
            <a:ext cx="4619034" cy="3562502"/>
            <a:chOff x="0" y="0"/>
            <a:chExt cx="6158713" cy="47500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6107938" cy="4699254"/>
            </a:xfrm>
            <a:custGeom>
              <a:avLst/>
              <a:gdLst/>
              <a:ahLst/>
              <a:cxnLst/>
              <a:rect r="r" b="b" t="t" l="l"/>
              <a:pathLst>
                <a:path h="4699254" w="6107938">
                  <a:moveTo>
                    <a:pt x="0" y="56769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6051042" y="0"/>
                  </a:lnTo>
                  <a:cubicBezTo>
                    <a:pt x="6082411" y="0"/>
                    <a:pt x="6107938" y="25400"/>
                    <a:pt x="6107938" y="56769"/>
                  </a:cubicBezTo>
                  <a:lnTo>
                    <a:pt x="6107938" y="4642485"/>
                  </a:lnTo>
                  <a:cubicBezTo>
                    <a:pt x="6107938" y="4673854"/>
                    <a:pt x="6082538" y="4699254"/>
                    <a:pt x="6051042" y="4699254"/>
                  </a:cubicBezTo>
                  <a:lnTo>
                    <a:pt x="56896" y="4699254"/>
                  </a:lnTo>
                  <a:cubicBezTo>
                    <a:pt x="25527" y="4699254"/>
                    <a:pt x="0" y="4673854"/>
                    <a:pt x="0" y="4642485"/>
                  </a:cubicBezTo>
                  <a:close/>
                </a:path>
              </a:pathLst>
            </a:custGeom>
            <a:solidFill>
              <a:srgbClr val="F9F8F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58738" cy="4750054"/>
            </a:xfrm>
            <a:custGeom>
              <a:avLst/>
              <a:gdLst/>
              <a:ahLst/>
              <a:cxnLst/>
              <a:rect r="r" b="b" t="t" l="l"/>
              <a:pathLst>
                <a:path h="4750054" w="6158738">
                  <a:moveTo>
                    <a:pt x="0" y="82169"/>
                  </a:moveTo>
                  <a:cubicBezTo>
                    <a:pt x="0" y="36703"/>
                    <a:pt x="36830" y="0"/>
                    <a:pt x="82296" y="0"/>
                  </a:cubicBezTo>
                  <a:lnTo>
                    <a:pt x="6076442" y="0"/>
                  </a:lnTo>
                  <a:lnTo>
                    <a:pt x="6076442" y="25400"/>
                  </a:lnTo>
                  <a:lnTo>
                    <a:pt x="6076442" y="0"/>
                  </a:lnTo>
                  <a:cubicBezTo>
                    <a:pt x="6121781" y="0"/>
                    <a:pt x="6158738" y="36703"/>
                    <a:pt x="6158738" y="82169"/>
                  </a:cubicBezTo>
                  <a:lnTo>
                    <a:pt x="6133338" y="82169"/>
                  </a:lnTo>
                  <a:lnTo>
                    <a:pt x="6158738" y="82169"/>
                  </a:lnTo>
                  <a:lnTo>
                    <a:pt x="6158738" y="4667885"/>
                  </a:lnTo>
                  <a:lnTo>
                    <a:pt x="6133338" y="4667885"/>
                  </a:lnTo>
                  <a:lnTo>
                    <a:pt x="6158738" y="4667885"/>
                  </a:lnTo>
                  <a:cubicBezTo>
                    <a:pt x="6158738" y="4713351"/>
                    <a:pt x="6121908" y="4750054"/>
                    <a:pt x="6076442" y="4750054"/>
                  </a:cubicBezTo>
                  <a:lnTo>
                    <a:pt x="6076442" y="4724654"/>
                  </a:lnTo>
                  <a:lnTo>
                    <a:pt x="6076442" y="4750054"/>
                  </a:lnTo>
                  <a:lnTo>
                    <a:pt x="82296" y="4750054"/>
                  </a:lnTo>
                  <a:lnTo>
                    <a:pt x="82296" y="4724654"/>
                  </a:lnTo>
                  <a:lnTo>
                    <a:pt x="82296" y="4750054"/>
                  </a:lnTo>
                  <a:cubicBezTo>
                    <a:pt x="36957" y="4750054"/>
                    <a:pt x="0" y="4713351"/>
                    <a:pt x="0" y="4667885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4667885"/>
                  </a:lnTo>
                  <a:lnTo>
                    <a:pt x="25400" y="4667885"/>
                  </a:lnTo>
                  <a:lnTo>
                    <a:pt x="50800" y="4667885"/>
                  </a:lnTo>
                  <a:cubicBezTo>
                    <a:pt x="50800" y="4685157"/>
                    <a:pt x="64770" y="4699254"/>
                    <a:pt x="82296" y="4699254"/>
                  </a:cubicBezTo>
                  <a:lnTo>
                    <a:pt x="6076442" y="4699254"/>
                  </a:lnTo>
                  <a:cubicBezTo>
                    <a:pt x="6093841" y="4699254"/>
                    <a:pt x="6107938" y="4685157"/>
                    <a:pt x="6107938" y="4667885"/>
                  </a:cubicBezTo>
                  <a:lnTo>
                    <a:pt x="6107938" y="82169"/>
                  </a:lnTo>
                  <a:cubicBezTo>
                    <a:pt x="6107938" y="64897"/>
                    <a:pt x="6093968" y="50800"/>
                    <a:pt x="6076442" y="50800"/>
                  </a:cubicBezTo>
                  <a:lnTo>
                    <a:pt x="82296" y="50800"/>
                  </a:lnTo>
                  <a:lnTo>
                    <a:pt x="82296" y="25400"/>
                  </a:lnTo>
                  <a:lnTo>
                    <a:pt x="82296" y="50800"/>
                  </a:lnTo>
                  <a:cubicBezTo>
                    <a:pt x="64770" y="50800"/>
                    <a:pt x="50800" y="64897"/>
                    <a:pt x="50800" y="82169"/>
                  </a:cubicBezTo>
                  <a:close/>
                </a:path>
              </a:pathLst>
            </a:custGeom>
            <a:solidFill>
              <a:srgbClr val="D3D1C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71859" y="242366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Scoring Mechanism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1859" y="2960484"/>
            <a:ext cx="3937692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Weighted aggregation of model outputs produces a normalized 0–100 risk score representing clinical concern magnitude.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695634" y="2092528"/>
            <a:ext cx="4619177" cy="3562502"/>
            <a:chOff x="0" y="0"/>
            <a:chExt cx="6158903" cy="47500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108192" cy="4699254"/>
            </a:xfrm>
            <a:custGeom>
              <a:avLst/>
              <a:gdLst/>
              <a:ahLst/>
              <a:cxnLst/>
              <a:rect r="r" b="b" t="t" l="l"/>
              <a:pathLst>
                <a:path h="4699254" w="6108192">
                  <a:moveTo>
                    <a:pt x="0" y="56769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6051296" y="0"/>
                  </a:lnTo>
                  <a:cubicBezTo>
                    <a:pt x="6082665" y="0"/>
                    <a:pt x="6108192" y="25400"/>
                    <a:pt x="6108192" y="56769"/>
                  </a:cubicBezTo>
                  <a:lnTo>
                    <a:pt x="6108192" y="4642485"/>
                  </a:lnTo>
                  <a:cubicBezTo>
                    <a:pt x="6108192" y="4673854"/>
                    <a:pt x="6082792" y="4699254"/>
                    <a:pt x="6051296" y="4699254"/>
                  </a:cubicBezTo>
                  <a:lnTo>
                    <a:pt x="56896" y="4699254"/>
                  </a:lnTo>
                  <a:cubicBezTo>
                    <a:pt x="25527" y="4699254"/>
                    <a:pt x="0" y="4673854"/>
                    <a:pt x="0" y="4642485"/>
                  </a:cubicBezTo>
                  <a:close/>
                </a:path>
              </a:pathLst>
            </a:custGeom>
            <a:solidFill>
              <a:srgbClr val="F9F8F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58992" cy="4750054"/>
            </a:xfrm>
            <a:custGeom>
              <a:avLst/>
              <a:gdLst/>
              <a:ahLst/>
              <a:cxnLst/>
              <a:rect r="r" b="b" t="t" l="l"/>
              <a:pathLst>
                <a:path h="4750054" w="6158992">
                  <a:moveTo>
                    <a:pt x="0" y="82169"/>
                  </a:moveTo>
                  <a:cubicBezTo>
                    <a:pt x="0" y="36703"/>
                    <a:pt x="36830" y="0"/>
                    <a:pt x="82296" y="0"/>
                  </a:cubicBezTo>
                  <a:lnTo>
                    <a:pt x="6076696" y="0"/>
                  </a:lnTo>
                  <a:lnTo>
                    <a:pt x="6076696" y="25400"/>
                  </a:lnTo>
                  <a:lnTo>
                    <a:pt x="6076696" y="0"/>
                  </a:lnTo>
                  <a:cubicBezTo>
                    <a:pt x="6122035" y="0"/>
                    <a:pt x="6158992" y="36703"/>
                    <a:pt x="6158992" y="82169"/>
                  </a:cubicBezTo>
                  <a:lnTo>
                    <a:pt x="6133592" y="82169"/>
                  </a:lnTo>
                  <a:lnTo>
                    <a:pt x="6158992" y="82169"/>
                  </a:lnTo>
                  <a:lnTo>
                    <a:pt x="6158992" y="4667885"/>
                  </a:lnTo>
                  <a:lnTo>
                    <a:pt x="6133592" y="4667885"/>
                  </a:lnTo>
                  <a:lnTo>
                    <a:pt x="6158992" y="4667885"/>
                  </a:lnTo>
                  <a:cubicBezTo>
                    <a:pt x="6158992" y="4713351"/>
                    <a:pt x="6122162" y="4750054"/>
                    <a:pt x="6076696" y="4750054"/>
                  </a:cubicBezTo>
                  <a:lnTo>
                    <a:pt x="6076696" y="4724654"/>
                  </a:lnTo>
                  <a:lnTo>
                    <a:pt x="6076696" y="4750054"/>
                  </a:lnTo>
                  <a:lnTo>
                    <a:pt x="82296" y="4750054"/>
                  </a:lnTo>
                  <a:lnTo>
                    <a:pt x="82296" y="4724654"/>
                  </a:lnTo>
                  <a:lnTo>
                    <a:pt x="82296" y="4750054"/>
                  </a:lnTo>
                  <a:cubicBezTo>
                    <a:pt x="36957" y="4750054"/>
                    <a:pt x="0" y="4713351"/>
                    <a:pt x="0" y="4667885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4667885"/>
                  </a:lnTo>
                  <a:lnTo>
                    <a:pt x="25400" y="4667885"/>
                  </a:lnTo>
                  <a:lnTo>
                    <a:pt x="50800" y="4667885"/>
                  </a:lnTo>
                  <a:cubicBezTo>
                    <a:pt x="50800" y="4685157"/>
                    <a:pt x="64770" y="4699254"/>
                    <a:pt x="82296" y="4699254"/>
                  </a:cubicBezTo>
                  <a:lnTo>
                    <a:pt x="6076696" y="4699254"/>
                  </a:lnTo>
                  <a:cubicBezTo>
                    <a:pt x="6094095" y="4699254"/>
                    <a:pt x="6108192" y="4685157"/>
                    <a:pt x="6108192" y="4667885"/>
                  </a:cubicBezTo>
                  <a:lnTo>
                    <a:pt x="6108192" y="82169"/>
                  </a:lnTo>
                  <a:cubicBezTo>
                    <a:pt x="6108192" y="64897"/>
                    <a:pt x="6094222" y="50800"/>
                    <a:pt x="6076696" y="50800"/>
                  </a:cubicBezTo>
                  <a:lnTo>
                    <a:pt x="82296" y="50800"/>
                  </a:lnTo>
                  <a:lnTo>
                    <a:pt x="82296" y="25400"/>
                  </a:lnTo>
                  <a:lnTo>
                    <a:pt x="82296" y="50800"/>
                  </a:lnTo>
                  <a:cubicBezTo>
                    <a:pt x="64770" y="50800"/>
                    <a:pt x="50800" y="64897"/>
                    <a:pt x="50800" y="82169"/>
                  </a:cubicBezTo>
                  <a:close/>
                </a:path>
              </a:pathLst>
            </a:custGeom>
            <a:solidFill>
              <a:srgbClr val="D3D1C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36306" y="242366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Risk Categories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36306" y="2960484"/>
            <a:ext cx="3937845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Five-tier labels: Minimal, Low, Moderate, High, Critical — calibrated to clinical thresholds and configurable per deployment.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31188" y="5900442"/>
            <a:ext cx="9483623" cy="2201618"/>
            <a:chOff x="0" y="0"/>
            <a:chExt cx="12644831" cy="29354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12594082" cy="2884805"/>
            </a:xfrm>
            <a:custGeom>
              <a:avLst/>
              <a:gdLst/>
              <a:ahLst/>
              <a:cxnLst/>
              <a:rect r="r" b="b" t="t" l="l"/>
              <a:pathLst>
                <a:path h="2884805" w="12594082">
                  <a:moveTo>
                    <a:pt x="0" y="56769"/>
                  </a:moveTo>
                  <a:cubicBezTo>
                    <a:pt x="0" y="25400"/>
                    <a:pt x="25781" y="0"/>
                    <a:pt x="57531" y="0"/>
                  </a:cubicBezTo>
                  <a:lnTo>
                    <a:pt x="12536551" y="0"/>
                  </a:lnTo>
                  <a:cubicBezTo>
                    <a:pt x="12568301" y="0"/>
                    <a:pt x="12594082" y="25400"/>
                    <a:pt x="12594082" y="56769"/>
                  </a:cubicBezTo>
                  <a:lnTo>
                    <a:pt x="12594082" y="2828036"/>
                  </a:lnTo>
                  <a:cubicBezTo>
                    <a:pt x="12594082" y="2859405"/>
                    <a:pt x="12568301" y="2884805"/>
                    <a:pt x="12536551" y="2884805"/>
                  </a:cubicBezTo>
                  <a:lnTo>
                    <a:pt x="57531" y="2884805"/>
                  </a:lnTo>
                  <a:cubicBezTo>
                    <a:pt x="25781" y="2884805"/>
                    <a:pt x="0" y="2859405"/>
                    <a:pt x="0" y="2828036"/>
                  </a:cubicBezTo>
                  <a:close/>
                </a:path>
              </a:pathLst>
            </a:custGeom>
            <a:solidFill>
              <a:srgbClr val="F9F8F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44882" cy="2935605"/>
            </a:xfrm>
            <a:custGeom>
              <a:avLst/>
              <a:gdLst/>
              <a:ahLst/>
              <a:cxnLst/>
              <a:rect r="r" b="b" t="t" l="l"/>
              <a:pathLst>
                <a:path h="2935605" w="12644882">
                  <a:moveTo>
                    <a:pt x="0" y="82169"/>
                  </a:moveTo>
                  <a:cubicBezTo>
                    <a:pt x="0" y="36449"/>
                    <a:pt x="37465" y="0"/>
                    <a:pt x="82931" y="0"/>
                  </a:cubicBezTo>
                  <a:lnTo>
                    <a:pt x="12561951" y="0"/>
                  </a:lnTo>
                  <a:lnTo>
                    <a:pt x="12561951" y="25400"/>
                  </a:lnTo>
                  <a:lnTo>
                    <a:pt x="12561951" y="0"/>
                  </a:lnTo>
                  <a:cubicBezTo>
                    <a:pt x="12607417" y="0"/>
                    <a:pt x="12644882" y="36449"/>
                    <a:pt x="12644882" y="82169"/>
                  </a:cubicBezTo>
                  <a:lnTo>
                    <a:pt x="12619482" y="82169"/>
                  </a:lnTo>
                  <a:lnTo>
                    <a:pt x="12644882" y="82169"/>
                  </a:lnTo>
                  <a:lnTo>
                    <a:pt x="12644882" y="2853436"/>
                  </a:lnTo>
                  <a:lnTo>
                    <a:pt x="12619482" y="2853436"/>
                  </a:lnTo>
                  <a:lnTo>
                    <a:pt x="12644882" y="2853436"/>
                  </a:lnTo>
                  <a:cubicBezTo>
                    <a:pt x="12644882" y="2899156"/>
                    <a:pt x="12607417" y="2935605"/>
                    <a:pt x="12561951" y="2935605"/>
                  </a:cubicBezTo>
                  <a:lnTo>
                    <a:pt x="12561951" y="2910205"/>
                  </a:lnTo>
                  <a:lnTo>
                    <a:pt x="12561951" y="2935605"/>
                  </a:lnTo>
                  <a:lnTo>
                    <a:pt x="82931" y="2935605"/>
                  </a:lnTo>
                  <a:lnTo>
                    <a:pt x="82931" y="2910205"/>
                  </a:lnTo>
                  <a:lnTo>
                    <a:pt x="82931" y="2935605"/>
                  </a:lnTo>
                  <a:cubicBezTo>
                    <a:pt x="37465" y="2935605"/>
                    <a:pt x="0" y="2899156"/>
                    <a:pt x="0" y="2853436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2853436"/>
                  </a:lnTo>
                  <a:lnTo>
                    <a:pt x="25400" y="2853436"/>
                  </a:lnTo>
                  <a:lnTo>
                    <a:pt x="50800" y="2853436"/>
                  </a:lnTo>
                  <a:cubicBezTo>
                    <a:pt x="50800" y="2870454"/>
                    <a:pt x="64897" y="2884805"/>
                    <a:pt x="82931" y="2884805"/>
                  </a:cubicBezTo>
                  <a:lnTo>
                    <a:pt x="12561951" y="2884805"/>
                  </a:lnTo>
                  <a:cubicBezTo>
                    <a:pt x="12579985" y="2884805"/>
                    <a:pt x="12594082" y="2870454"/>
                    <a:pt x="12594082" y="2853436"/>
                  </a:cubicBezTo>
                  <a:lnTo>
                    <a:pt x="12594082" y="82169"/>
                  </a:lnTo>
                  <a:cubicBezTo>
                    <a:pt x="12594082" y="65151"/>
                    <a:pt x="12579985" y="50800"/>
                    <a:pt x="12561951" y="50800"/>
                  </a:cubicBezTo>
                  <a:lnTo>
                    <a:pt x="82931" y="50800"/>
                  </a:lnTo>
                  <a:lnTo>
                    <a:pt x="82931" y="25400"/>
                  </a:lnTo>
                  <a:lnTo>
                    <a:pt x="82931" y="50800"/>
                  </a:lnTo>
                  <a:cubicBezTo>
                    <a:pt x="64897" y="50800"/>
                    <a:pt x="50800" y="65151"/>
                    <a:pt x="50800" y="82169"/>
                  </a:cubicBezTo>
                  <a:close/>
                </a:path>
              </a:pathLst>
            </a:custGeom>
            <a:solidFill>
              <a:srgbClr val="D3D1C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171859" y="623157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Synthesis Engine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71859" y="6768408"/>
            <a:ext cx="880229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Combines individual parameter interpretation, detected patterns, and contextual modifiers to produce a concise clinical summary.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50238" y="8316220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Summary outputs include supporting evidence (which parameters contributed most) and confidence metrics for reviewer transparency.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6544866" y="411926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33" r="0" b="-3334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2097493" y="411926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666" r="0" b="-266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163644"/>
            <a:ext cx="797072" cy="797072"/>
          </a:xfrm>
          <a:custGeom>
            <a:avLst/>
            <a:gdLst/>
            <a:ahLst/>
            <a:cxnLst/>
            <a:rect r="r" b="b" t="t" l="l"/>
            <a:pathLst>
              <a:path h="797072" w="797072">
                <a:moveTo>
                  <a:pt x="0" y="0"/>
                </a:moveTo>
                <a:lnTo>
                  <a:pt x="797072" y="0"/>
                </a:lnTo>
                <a:lnTo>
                  <a:pt x="797072" y="797072"/>
                </a:lnTo>
                <a:lnTo>
                  <a:pt x="0" y="797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2824458"/>
            <a:ext cx="10821438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Recommendation Engine &amp; Orchestrator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5314" y="4109742"/>
            <a:ext cx="413519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Personalized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5314" y="5089474"/>
            <a:ext cx="413519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Dietary and lifestyle advice mapped directly to detected abnormalities (e.g., iron-rich diet for iron-deficiency pattern).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7941" y="410974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Follow-up Guidance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07941" y="4646562"/>
            <a:ext cx="413519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Suggested timelines for repeat testing, urgent referral flags, and red-flag escalation when risk is High/Critical.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60578" y="4109742"/>
            <a:ext cx="413519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Orchestration &amp; Reliability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0578" y="5089474"/>
            <a:ext cx="413519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Multi-model orchestrator sequences model execution, manages retries, logs errors, and guarantees end-to-end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485998"/>
            <a:chOff x="0" y="0"/>
            <a:chExt cx="24384000" cy="464799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647946"/>
            </a:xfrm>
            <a:custGeom>
              <a:avLst/>
              <a:gdLst/>
              <a:ahLst/>
              <a:cxnLst/>
              <a:rect r="r" b="b" t="t" l="l"/>
              <a:pathLst>
                <a:path h="464794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47946"/>
                  </a:lnTo>
                  <a:lnTo>
                    <a:pt x="0" y="4647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76017" y="4252617"/>
            <a:ext cx="8858993" cy="71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Technical Highlights &amp; Conclusion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6017" y="5380282"/>
            <a:ext cx="5262410" cy="2927452"/>
            <a:chOff x="0" y="0"/>
            <a:chExt cx="7016547" cy="39032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16497" cy="3903218"/>
            </a:xfrm>
            <a:custGeom>
              <a:avLst/>
              <a:gdLst/>
              <a:ahLst/>
              <a:cxnLst/>
              <a:rect r="r" b="b" t="t" l="l"/>
              <a:pathLst>
                <a:path h="3903218" w="7016497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3847465"/>
                  </a:lnTo>
                  <a:cubicBezTo>
                    <a:pt x="7016497" y="3878326"/>
                    <a:pt x="6991477" y="3903218"/>
                    <a:pt x="6960743" y="3903218"/>
                  </a:cubicBezTo>
                  <a:lnTo>
                    <a:pt x="55753" y="3903218"/>
                  </a:lnTo>
                  <a:cubicBezTo>
                    <a:pt x="24892" y="3903218"/>
                    <a:pt x="0" y="3878199"/>
                    <a:pt x="0" y="3847465"/>
                  </a:cubicBezTo>
                  <a:close/>
                </a:path>
              </a:pathLst>
            </a:custGeom>
            <a:solidFill>
              <a:srgbClr val="EDEBE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54766" y="5649516"/>
            <a:ext cx="3485998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Core Components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4766" y="6182916"/>
            <a:ext cx="4704902" cy="184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OCR-based extraction • Regex-driven parsing • Context-aware medical logic • Confidence-based pattern detection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12719" y="5380282"/>
            <a:ext cx="5262410" cy="2927452"/>
            <a:chOff x="0" y="0"/>
            <a:chExt cx="7016547" cy="39032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16497" cy="3903218"/>
            </a:xfrm>
            <a:custGeom>
              <a:avLst/>
              <a:gdLst/>
              <a:ahLst/>
              <a:cxnLst/>
              <a:rect r="r" b="b" t="t" l="l"/>
              <a:pathLst>
                <a:path h="3903218" w="7016497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3847465"/>
                  </a:lnTo>
                  <a:cubicBezTo>
                    <a:pt x="7016497" y="3878326"/>
                    <a:pt x="6991477" y="3903218"/>
                    <a:pt x="6960743" y="3903218"/>
                  </a:cubicBezTo>
                  <a:lnTo>
                    <a:pt x="55753" y="3903218"/>
                  </a:lnTo>
                  <a:cubicBezTo>
                    <a:pt x="24892" y="3903218"/>
                    <a:pt x="0" y="3878199"/>
                    <a:pt x="0" y="3847465"/>
                  </a:cubicBezTo>
                  <a:close/>
                </a:path>
              </a:pathLst>
            </a:custGeom>
            <a:solidFill>
              <a:srgbClr val="EDEBE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91477" y="5649516"/>
            <a:ext cx="3485998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Architecture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91477" y="6182916"/>
            <a:ext cx="4704902" cy="184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Modular, testable pipelines with orchestrator and clear interfaces for model updates and clinical governance.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49420" y="5380282"/>
            <a:ext cx="5262410" cy="2927452"/>
            <a:chOff x="0" y="0"/>
            <a:chExt cx="7016547" cy="39032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16497" cy="3903218"/>
            </a:xfrm>
            <a:custGeom>
              <a:avLst/>
              <a:gdLst/>
              <a:ahLst/>
              <a:cxnLst/>
              <a:rect r="r" b="b" t="t" l="l"/>
              <a:pathLst>
                <a:path h="3903218" w="7016497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3847465"/>
                  </a:lnTo>
                  <a:cubicBezTo>
                    <a:pt x="7016497" y="3878326"/>
                    <a:pt x="6991477" y="3903218"/>
                    <a:pt x="6960743" y="3903218"/>
                  </a:cubicBezTo>
                  <a:lnTo>
                    <a:pt x="55753" y="3903218"/>
                  </a:lnTo>
                  <a:cubicBezTo>
                    <a:pt x="24892" y="3903218"/>
                    <a:pt x="0" y="3878199"/>
                    <a:pt x="0" y="3847465"/>
                  </a:cubicBezTo>
                  <a:close/>
                </a:path>
              </a:pathLst>
            </a:custGeom>
            <a:solidFill>
              <a:srgbClr val="EDEBE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28179" y="5649516"/>
            <a:ext cx="3917899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Interface &amp; Deployment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28179" y="6182916"/>
            <a:ext cx="4704902" cy="184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Streamlit-based prototype UI; designed for scalability and integration with EHRs or telehealth portals.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6017" y="8540058"/>
            <a:ext cx="16335966" cy="96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Conclusion: An end-to-end, extensible system that converts raw lab reports into actionable clinical insights — improving accessibility, reproducibility, and timely decision support.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6" y="-75733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236134" y="4628177"/>
            <a:ext cx="3815733" cy="86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55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Thank You!!!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DAHB8xQ_t7k</dc:identifier>
  <dcterms:modified xsi:type="dcterms:W3CDTF">2011-08-01T06:04:30Z</dcterms:modified>
  <cp:revision>1</cp:revision>
  <dc:title>Presentation_2.pptx</dc:title>
</cp:coreProperties>
</file>