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Default ContentType="image/jpeg" Extension="jpeg"/>
  <Default ContentType="image/jpg" Extension="jpg"/>
  <Default ContentType="image/svg+xml" Extension="svg"/>
  <Default ContentType="image/png" Extension="png"/>
  <Default ContentType="image/gif" Extension="gif"/>
  <Default ContentType="video/mp4" Extension="m4v"/>
  <Default ContentType="video/mp4" Extension="mp4"/>
  <Default ContentType="application/vnd.openxmlformats-officedocument.vmlDrawing" Extension="vml"/>
  <Default ContentType="application/vnd.openxmlformats-officedocument.spreadsheetml.sheet" Extension="xlsx"/>
  <Override ContentType="application/vnd.openxmlformats-officedocument.presentationml.presentation.main+xml" PartName="/ppt/presentation.xml"/>
  <Override ContentType="application/vnd.openxmlformats-officedocument.presentationml.notesMaster+xml" PartName="/ppt/notesMasters/notesMaster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2.xml"/>
  <Override ContentType="application/vnd.openxmlformats-officedocument.presentationml.slideMaster+xml" PartName="/ppt/slideMasters/slideMaster3.xml"/>
  <Override ContentType="application/vnd.openxmlformats-officedocument.presentationml.slide+xml" PartName="/ppt/slides/slide3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5.xml"/>
  <Override ContentType="application/vnd.openxmlformats-officedocument.presentationml.slideMaster+xml" PartName="/ppt/slideMasters/slideMaster6.xml"/>
  <Override ContentType="application/vnd.openxmlformats-officedocument.presentationml.slide+xml" PartName="/ppt/slides/slide6.xml"/>
  <Override ContentType="application/vnd.openxmlformats-officedocument.presentationml.slideMaster+xml" PartName="/ppt/slideMasters/slideMaster7.xml"/>
  <Override ContentType="application/vnd.openxmlformats-officedocument.presentationml.slide+xml" PartName="/ppt/slides/slide7.xml"/>
  <Override ContentType="application/vnd.openxmlformats-officedocument.presentationml.slideMaster+xml" PartName="/ppt/slideMasters/slideMaster8.xml"/>
  <Override ContentType="application/vnd.openxmlformats-officedocument.presentationml.slide+xml" PartName="/ppt/slides/slide8.xml"/>
  <Override ContentType="application/vnd.openxmlformats-officedocument.presentationml.slideMaster+xml" PartName="/ppt/slideMasters/slideMaster9.xml"/>
  <Override ContentType="application/vnd.openxmlformats-officedocument.presentationml.slide+xml" PartName="/ppt/slides/slide9.xml"/>
  <Override ContentType="application/vnd.openxmlformats-officedocument.presentationml.slideMaster+xml" PartName="/ppt/slideMasters/slideMaster10.xml"/>
  <Override ContentType="application/vnd.openxmlformats-officedocument.presentationml.slide+xml" PartName="/ppt/slides/slide10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custom-properties+xml" PartName="/docProps/custom.xml"/>
</Types>
</file>

<file path=_rels/.rels><?xml version="1.0" encoding="UTF-8" standalone="yes" ?><Relationships xmlns="http://schemas.openxmlformats.org/package/2006/relationships">
		<Relationship Id="rId1" Target="docProps/app.xml" Type="http://schemas.openxmlformats.org/officeDocument/2006/relationships/extended-properties"/>
		<Relationship Id="rId2" Target="docProps/core.xml" Type="http://schemas.openxmlformats.org/package/2006/relationships/metadata/core-properties"/>
		<Relationship Id="rId3" Target="ppt/presentation.xml" Type="http://schemas.openxmlformats.org/officeDocument/2006/relationships/officeDocument"/>
		<Relationship Id="rId4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Source Serif 4 Semi Bold"/>
      <p:regular r:id="rId17"/>
    </p:embeddedFont>
    <p:embeddedFont>
      <p:font typeface="Source Serif 4 Semi Bold"/>
      <p:regular r:id="rId18"/>
    </p:embeddedFont>
    <p:embeddedFont>
      <p:font typeface="Source Serif 4 Semi Bold"/>
      <p:regular r:id="rId19"/>
    </p:embeddedFont>
    <p:embeddedFont>
      <p:font typeface="Source Serif 4 Semi Bold"/>
      <p:regular r:id="rId20"/>
    </p:embeddedFont>
    <p:embeddedFont>
      <p:font typeface="Source Sans 3"/>
      <p:regular r:id="rId21"/>
    </p:embeddedFont>
    <p:embeddedFont>
      <p:font typeface="Source Sans 3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arget="../media/image-1-1.jpeg" Type="http://schemas.openxmlformats.org/officeDocument/2006/relationships/image"/><Relationship Id="rId2" Target="../slideLayouts/slideLayout2.xml" Type="http://schemas.openxmlformats.org/officeDocument/2006/relationships/slideLayout"/><Relationship Id="rId3" Target="../notesSlides/notesSlide1.xml" Type="http://schemas.openxmlformats.org/officeDocument/2006/relationships/notesSlide"/></Relationships>
</file>

<file path=ppt/slides/_rels/slide2.xml.rels><?xml version="1.0" encoding="UTF-8" standalone="yes" ?><Relationships xmlns="http://schemas.openxmlformats.org/package/2006/relationships"><Relationship Id="rId1" Target="../media/image-2-1.jpeg" Type="http://schemas.openxmlformats.org/officeDocument/2006/relationships/image"/><Relationship Id="rId2" Target="../slideLayouts/slideLayout3.xml" Type="http://schemas.openxmlformats.org/officeDocument/2006/relationships/slideLayout"/><Relationship Id="rId3" Target="../notesSlides/notesSlide2.xml" Type="http://schemas.openxmlformats.org/officeDocument/2006/relationships/notesSlide"/></Relationships>
</file>

<file path=ppt/slides/_rels/slide3.xml.rels><?xml version="1.0" encoding="UTF-8" standalone="yes" ?><Relationships xmlns="http://schemas.openxmlformats.org/package/2006/relationships"><Relationship Id="rId1" Target="../media/image-3-1.jpeg" Type="http://schemas.openxmlformats.org/officeDocument/2006/relationships/image"/><Relationship Id="rId2" Target="../slideLayouts/slideLayout4.xml" Type="http://schemas.openxmlformats.org/officeDocument/2006/relationships/slideLayout"/><Relationship Id="rId3" Target="../notesSlides/notesSlide3.xml" Type="http://schemas.openxmlformats.org/officeDocument/2006/relationships/notesSlide"/></Relationships>
</file>

<file path=ppt/slides/_rels/slide4.xml.rels><?xml version="1.0" encoding="UTF-8" standalone="yes" ?><Relationships xmlns="http://schemas.openxmlformats.org/package/2006/relationships"><Relationship Id="rId1" Target="../media/image-4-1.jpeg" Type="http://schemas.openxmlformats.org/officeDocument/2006/relationships/image"/><Relationship Id="rId2" Target="../slideLayouts/slideLayout5.xml" Type="http://schemas.openxmlformats.org/officeDocument/2006/relationships/slideLayout"/><Relationship Id="rId3" Target="../notesSlides/notesSlide4.xml" Type="http://schemas.openxmlformats.org/officeDocument/2006/relationships/notesSlide"/></Relationships>
</file>

<file path=ppt/slides/_rels/slide5.xml.rels><?xml version="1.0" encoding="UTF-8" standalone="yes" ?><Relationships xmlns="http://schemas.openxmlformats.org/package/2006/relationships"><Relationship Id="rId1" Target="../media/image-5-1.jpeg" Type="http://schemas.openxmlformats.org/officeDocument/2006/relationships/image"/><Relationship Id="rId2" Target="../media/image-5-2.png" Type="http://schemas.openxmlformats.org/officeDocument/2006/relationships/image"/><Relationship Id="rId3" Target="../media/image-5-3.svg" Type="http://schemas.openxmlformats.org/officeDocument/2006/relationships/image"/><Relationship Id="rId4" Target="../media/image-5-4.png" Type="http://schemas.openxmlformats.org/officeDocument/2006/relationships/image"/><Relationship Id="rId5" Target="../media/image-5-5.svg" Type="http://schemas.openxmlformats.org/officeDocument/2006/relationships/image"/><Relationship Id="rId6" Target="../media/image-5-6.png" Type="http://schemas.openxmlformats.org/officeDocument/2006/relationships/image"/><Relationship Id="rId7" Target="../media/image-5-7.svg" Type="http://schemas.openxmlformats.org/officeDocument/2006/relationships/image"/><Relationship Id="rId8" Target="../slideLayouts/slideLayout6.xml" Type="http://schemas.openxmlformats.org/officeDocument/2006/relationships/slideLayout"/><Relationship Id="rId9" Target="../notesSlides/notesSlide5.xml" Type="http://schemas.openxmlformats.org/officeDocument/2006/relationships/notesSlide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 ?><Relationships xmlns="http://schemas.openxmlformats.org/package/2006/relationships"><Relationship Id="rId1" Target="../media/image-7-1.jpeg" Type="http://schemas.openxmlformats.org/officeDocument/2006/relationships/image"/><Relationship Id="rId2" Target="../slideLayouts/slideLayout8.xml" Type="http://schemas.openxmlformats.org/officeDocument/2006/relationships/slideLayout"/><Relationship Id="rId3" Target="../notesSlides/notesSlide7.xml" Type="http://schemas.openxmlformats.org/officeDocument/2006/relationships/notesSlide"/></Relationships>
</file>

<file path=ppt/slides/_rels/slide8.xml.rels><?xml version="1.0" encoding="UTF-8" standalone="yes" ?><Relationships xmlns="http://schemas.openxmlformats.org/package/2006/relationships"><Relationship Id="rId1" Target="../media/image-8-1.jpeg" Type="http://schemas.openxmlformats.org/officeDocument/2006/relationships/image"/><Relationship Id="rId2" Target="../slideLayouts/slideLayout9.xml" Type="http://schemas.openxmlformats.org/officeDocument/2006/relationships/slideLayout"/><Relationship Id="rId3" Target="../notesSlides/notesSlide8.xml" Type="http://schemas.openxmlformats.org/officeDocument/2006/relationships/notesSlide"/></Relationships>
</file>

<file path=ppt/slides/_rels/slide9.xml.rels><?xml version="1.0" encoding="UTF-8" standalone="yes" ?><Relationships xmlns="http://schemas.openxmlformats.org/package/2006/relationships"><Relationship Id="rId1" Target="../media/image-9-1.jpeg" Type="http://schemas.openxmlformats.org/officeDocument/2006/relationships/image"/><Relationship Id="rId2" Target="../media/image-9-2.png" Type="http://schemas.openxmlformats.org/officeDocument/2006/relationships/image"/><Relationship Id="rId3" Target="../media/image-9-3.png" Type="http://schemas.openxmlformats.org/officeDocument/2006/relationships/image"/><Relationship Id="rId4" Target="../media/image-9-4.svg" Type="http://schemas.openxmlformats.org/officeDocument/2006/relationships/image"/><Relationship Id="rId5" Target="../media/image-9-5.png" Type="http://schemas.openxmlformats.org/officeDocument/2006/relationships/image"/><Relationship Id="rId6" Target="../media/image-9-6.svg" Type="http://schemas.openxmlformats.org/officeDocument/2006/relationships/image"/><Relationship Id="rId7" Target="../media/image-9-7.png" Type="http://schemas.openxmlformats.org/officeDocument/2006/relationships/image"/><Relationship Id="rId8" Target="../media/image-9-8.svg" Type="http://schemas.openxmlformats.org/officeDocument/2006/relationships/image"/><Relationship Id="rId9" Target="../media/image-9-9.png" Type="http://schemas.openxmlformats.org/officeDocument/2006/relationships/image"/><Relationship Id="rId10" Target="../media/image-9-10.svg" Type="http://schemas.openxmlformats.org/officeDocument/2006/relationships/image"/><Relationship Id="rId11" Target="../slideLayouts/slideLayout10.xml" Type="http://schemas.openxmlformats.org/officeDocument/2006/relationships/slideLayout"/><Relationship Id="rId12" Target="../notesSlides/notesSlide9.xml" Type="http://schemas.openxmlformats.org/officeDocument/2006/relationships/notesSlide"/></Relationships>
</file>

<file path=ppt/slides/_rels/slide10.xml.rels><?xml version="1.0" encoding="UTF-8" standalone="yes" ?><Relationships xmlns="http://schemas.openxmlformats.org/package/2006/relationships"><Relationship Id="rId1" Target="../media/image-10-1.jpeg" Type="http://schemas.openxmlformats.org/officeDocument/2006/relationships/image"/><Relationship Id="rId2" Target="../slideLayouts/slideLayout11.xml" Type="http://schemas.openxmlformats.org/officeDocument/2006/relationships/slideLayout"/><Relationship Id="rId3" Target="../notesSlides/notesSlide10.xml" Type="http://schemas.openxmlformats.org/officeDocument/2006/relationships/notesSlide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1818084"/>
            <a:ext cx="7468553" cy="281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Design &amp; Implementation of a Multi‑Model AI Agent for Automated Health Diagnostics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4993124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Intelligent interpretation of blood reports and personalized health recommendations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37724" y="6028373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Presented by: SUBALAKSHMI SRIDHAR — February 2026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1203960"/>
            <a:ext cx="6054328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The Problem &amp; Opportunity</a:t>
            </a:r>
            <a:endParaRPr lang="en-US" sz="3500" dirty="0"/>
          </a:p>
        </p:txBody>
      </p:sp>
      <p:sp>
        <p:nvSpPr>
          <p:cNvPr id="4" name="Shape 1"/>
          <p:cNvSpPr/>
          <p:nvPr/>
        </p:nvSpPr>
        <p:spPr>
          <a:xfrm>
            <a:off x="6324124" y="2126218"/>
            <a:ext cx="3614618" cy="2904530"/>
          </a:xfrm>
          <a:prstGeom prst="roundRect">
            <a:avLst>
              <a:gd name="adj" fmla="val 3461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71059" y="2373154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Data-to-Insight Gap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71059" y="2868692"/>
            <a:ext cx="3120747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Laboratory PDFs contain dense numeric results but lack immediate, actionable context for patients and clinicians.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10178058" y="2126218"/>
            <a:ext cx="3614618" cy="2904530"/>
          </a:xfrm>
          <a:prstGeom prst="roundRect">
            <a:avLst>
              <a:gd name="adj" fmla="val 3461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24993" y="2373154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Opportunity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24993" y="2868692"/>
            <a:ext cx="3120747" cy="191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Automate synthesis of raw results into plain‑language narratives, prioritized clinical actions, and longitudinal tracking.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6324124" y="5270063"/>
            <a:ext cx="7468553" cy="1755458"/>
          </a:xfrm>
          <a:prstGeom prst="roundRect">
            <a:avLst>
              <a:gd name="adj" fmla="val 5727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71059" y="5516999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Target Outcome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71059" y="6012537"/>
            <a:ext cx="6974681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Transform extracted reports into a synthesized health narrative with a &gt;95% workflow success rate.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0208" y="1432679"/>
            <a:ext cx="6337340" cy="477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Project Architecture — The "Brain"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710208" y="2168128"/>
            <a:ext cx="7723584" cy="599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Decoupled, modular design for scalability, traceability, and clinical safety. Each stage is independently testable and auditable.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710208" y="3265527"/>
            <a:ext cx="2459831" cy="3531394"/>
          </a:xfrm>
          <a:prstGeom prst="roundRect">
            <a:avLst>
              <a:gd name="adj" fmla="val 4461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710208" y="3242667"/>
            <a:ext cx="2459831" cy="91440"/>
          </a:xfrm>
          <a:prstGeom prst="roundRect">
            <a:avLst>
              <a:gd name="adj" fmla="val 93209"/>
            </a:avLst>
          </a:prstGeom>
          <a:solidFill>
            <a:srgbClr val="BE49DF"/>
          </a:solidFill>
          <a:ln/>
        </p:spPr>
      </p:sp>
      <p:sp>
        <p:nvSpPr>
          <p:cNvPr id="7" name="Shape 4"/>
          <p:cNvSpPr/>
          <p:nvPr/>
        </p:nvSpPr>
        <p:spPr>
          <a:xfrm>
            <a:off x="1635740" y="2961203"/>
            <a:ext cx="608767" cy="608767"/>
          </a:xfrm>
          <a:prstGeom prst="roundRect">
            <a:avLst>
              <a:gd name="adj" fmla="val 150205"/>
            </a:avLst>
          </a:prstGeom>
          <a:solidFill>
            <a:srgbClr val="BE49DF"/>
          </a:solidFill>
          <a:ln/>
        </p:spPr>
      </p:sp>
      <p:sp>
        <p:nvSpPr>
          <p:cNvPr id="8" name="Text 5"/>
          <p:cNvSpPr/>
          <p:nvPr/>
        </p:nvSpPr>
        <p:spPr>
          <a:xfrm>
            <a:off x="1818382" y="3113365"/>
            <a:ext cx="243483" cy="304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1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935950" y="3772733"/>
            <a:ext cx="2008346" cy="298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1. Data Ingestion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935950" y="4174212"/>
            <a:ext cx="2008346" cy="1498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Hybrid extraction (digital + OCR) normalizes diverse PDF formats into structured parameters.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3341965" y="3265527"/>
            <a:ext cx="2459950" cy="3531394"/>
          </a:xfrm>
          <a:prstGeom prst="roundRect">
            <a:avLst>
              <a:gd name="adj" fmla="val 4461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3341965" y="3242667"/>
            <a:ext cx="2459950" cy="91440"/>
          </a:xfrm>
          <a:prstGeom prst="roundRect">
            <a:avLst>
              <a:gd name="adj" fmla="val 93209"/>
            </a:avLst>
          </a:prstGeom>
          <a:solidFill>
            <a:srgbClr val="BE49DF"/>
          </a:solidFill>
          <a:ln/>
        </p:spPr>
      </p:sp>
      <p:sp>
        <p:nvSpPr>
          <p:cNvPr id="13" name="Shape 10"/>
          <p:cNvSpPr/>
          <p:nvPr/>
        </p:nvSpPr>
        <p:spPr>
          <a:xfrm>
            <a:off x="4267498" y="2961203"/>
            <a:ext cx="608767" cy="608767"/>
          </a:xfrm>
          <a:prstGeom prst="roundRect">
            <a:avLst>
              <a:gd name="adj" fmla="val 150205"/>
            </a:avLst>
          </a:prstGeom>
          <a:solidFill>
            <a:srgbClr val="BE49DF"/>
          </a:solidFill>
          <a:ln/>
        </p:spPr>
      </p:sp>
      <p:sp>
        <p:nvSpPr>
          <p:cNvPr id="14" name="Text 11"/>
          <p:cNvSpPr/>
          <p:nvPr/>
        </p:nvSpPr>
        <p:spPr>
          <a:xfrm>
            <a:off x="4450140" y="3113365"/>
            <a:ext cx="243483" cy="304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2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3567708" y="3772733"/>
            <a:ext cx="2008465" cy="596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2. Multi‑Model Analysis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3567708" y="4472583"/>
            <a:ext cx="2008465" cy="2098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Three independent models produce parameter interpretation, combined risk, and demographic context adjustment.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5973842" y="3265527"/>
            <a:ext cx="2459831" cy="3531394"/>
          </a:xfrm>
          <a:prstGeom prst="roundRect">
            <a:avLst>
              <a:gd name="adj" fmla="val 4461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5973842" y="3242667"/>
            <a:ext cx="2459831" cy="91440"/>
          </a:xfrm>
          <a:prstGeom prst="roundRect">
            <a:avLst>
              <a:gd name="adj" fmla="val 93209"/>
            </a:avLst>
          </a:prstGeom>
          <a:solidFill>
            <a:srgbClr val="BE49DF"/>
          </a:solidFill>
          <a:ln/>
        </p:spPr>
      </p:sp>
      <p:sp>
        <p:nvSpPr>
          <p:cNvPr id="19" name="Shape 16"/>
          <p:cNvSpPr/>
          <p:nvPr/>
        </p:nvSpPr>
        <p:spPr>
          <a:xfrm>
            <a:off x="6899374" y="2961203"/>
            <a:ext cx="608767" cy="608767"/>
          </a:xfrm>
          <a:prstGeom prst="roundRect">
            <a:avLst>
              <a:gd name="adj" fmla="val 150205"/>
            </a:avLst>
          </a:prstGeom>
          <a:solidFill>
            <a:srgbClr val="BE49DF"/>
          </a:solidFill>
          <a:ln/>
        </p:spPr>
      </p:sp>
      <p:sp>
        <p:nvSpPr>
          <p:cNvPr id="20" name="Text 17"/>
          <p:cNvSpPr/>
          <p:nvPr/>
        </p:nvSpPr>
        <p:spPr>
          <a:xfrm>
            <a:off x="7082016" y="3113365"/>
            <a:ext cx="243483" cy="304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3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6199584" y="3772733"/>
            <a:ext cx="2008346" cy="596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3. Synthesis &amp; Delivery</a:t>
            </a:r>
            <a:endParaRPr lang="en-US" sz="1850" dirty="0"/>
          </a:p>
        </p:txBody>
      </p:sp>
      <p:sp>
        <p:nvSpPr>
          <p:cNvPr id="22" name="Text 19"/>
          <p:cNvSpPr/>
          <p:nvPr/>
        </p:nvSpPr>
        <p:spPr>
          <a:xfrm>
            <a:off x="6199584" y="4472583"/>
            <a:ext cx="2008346" cy="2098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Recommendation generator turns model outputs into prioritized, traceable clinical guidance and patient‑friendly summaries.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5697" y="640913"/>
            <a:ext cx="8567738" cy="54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45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Milestone 1 — Data Extraction &amp; Pipeline</a:t>
            </a:r>
            <a:endParaRPr lang="en-US" sz="3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697" y="1784866"/>
            <a:ext cx="4179927" cy="557319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71887" y="2695218"/>
            <a:ext cx="8250317" cy="73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Components:</a:t>
            </a:r>
            <a:pPr algn="l" indent="0" marL="0">
              <a:lnSpc>
                <a:spcPts val="2850"/>
              </a:lnSpc>
              <a:buNone/>
            </a:pPr>
            <a:r>
              <a:rPr lang="en-US" sz="18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extractor.py (digital extraction), ocr_extractor.py (Tesseract fallback), cleaner.py (regex normalization).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571887" y="3634978"/>
            <a:ext cx="8250317" cy="367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Process Highlights: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571887" y="4206954"/>
            <a:ext cx="8250317" cy="2365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8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Prefer direct text stream from digital PDFs; fallback to Tesseract for scanned images.</a:t>
            </a:r>
            <a:endParaRPr lang="en-US" sz="180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8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Regex and rule-based cleaning map messy strings to numeric parameters and units.</a:t>
            </a:r>
            <a:endParaRPr lang="en-US" sz="180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8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Structured output schema (label, value, unit, reference range, method tag) for downstream models.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809387"/>
            <a:ext cx="7468553" cy="1126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Milestone 2 — Multi‑Model Analysis Strategy</a:t>
            </a:r>
            <a:endParaRPr lang="en-US" sz="35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24124" y="2294930"/>
            <a:ext cx="598408" cy="59840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221736" y="2294930"/>
            <a:ext cx="4440674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Model 1 — Parameter Interpreter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221736" y="2790468"/>
            <a:ext cx="6570940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Classifies each lab value as LOW / NORMAL / HIGH with method confidence and provenance to the original cell.</a:t>
            </a:r>
            <a:endParaRPr lang="en-US" sz="18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24124" y="4035266"/>
            <a:ext cx="598408" cy="59840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221736" y="4035266"/>
            <a:ext cx="5146596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Model 2 — Combined Risk Assessment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221736" y="4530804"/>
            <a:ext cx="6570940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Aggregates patterns to estimate probabilities for conditions (cardiovascular, diabetes, anemia) and flags correlated abnormalities.</a:t>
            </a:r>
            <a:endParaRPr lang="en-US" sz="18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24124" y="6158627"/>
            <a:ext cx="598408" cy="59840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221736" y="6158627"/>
            <a:ext cx="4133017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Model 3 — Contextual Adjuster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221736" y="6654165"/>
            <a:ext cx="6570940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Applies age, sex, and clinical context to refine risk, reduce false positives, and tailor urgency levels.</a:t>
            </a:r>
            <a:endParaRPr lang="en-US" sz="1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971550"/>
            <a:ext cx="9906833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Milestone 3 — Synthesis &amp; Actionable Insights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837724" y="2013585"/>
            <a:ext cx="1295495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synthesis engine consolidates model outputs into a coherent patient narrative and explicit, evidence‑linked recommendations.</a:t>
            </a:r>
            <a:endParaRPr lang="en-US" sz="1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724" y="3048833"/>
            <a:ext cx="1812250" cy="226528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7724" y="561332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Personalized Diet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37724" y="6108859"/>
            <a:ext cx="4118848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Targeted nutrition advice mapped directly to detected abnormalities (e.g., iron-rich foods for low hemoglobin).</a:t>
            </a:r>
            <a:endParaRPr lang="en-US" sz="18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5776" y="3048833"/>
            <a:ext cx="1812250" cy="226528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55776" y="561332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Lifestyle &amp; Exercise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255776" y="6108859"/>
            <a:ext cx="4118848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Specific activity recommendations with frequency and clinical rationale (e.g., aerobic for dyslipidemia).</a:t>
            </a:r>
            <a:endParaRPr lang="en-US" sz="18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3828" y="3048833"/>
            <a:ext cx="1812250" cy="226528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73828" y="561332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Follow‑Up Triage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9673828" y="6108859"/>
            <a:ext cx="4118848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Clear urgency levels (Routine / Expedited / Specialist) with rationale and linked lab evidence for clinician review.</a:t>
            </a:r>
            <a:endParaRPr lang="en-US" sz="1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774740"/>
            <a:ext cx="7468553" cy="1126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Milestone 4 — Integration &amp; Deployment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6324124" y="2475667"/>
            <a:ext cx="3442335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End‑to‑End Workflow: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Multi‑Model Orchestrator manages state across ingestion, analysis, and synthesis layers.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24124" y="4223147"/>
            <a:ext cx="3442335" cy="3147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Outputs: Text, HTML, JSON, Markdown — each includes provenance metadata for audit.</a:t>
            </a:r>
            <a:endParaRPr lang="en-US" sz="185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Validation: Integration tests (test_milestone3.py) achieved 100% pass on controlled datasets.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10357961" y="2475667"/>
            <a:ext cx="34423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Deployment: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10357961" y="3074075"/>
            <a:ext cx="3442335" cy="3614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Dockerized services for consistent cloud deployment.</a:t>
            </a:r>
            <a:endParaRPr lang="en-US" sz="185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Systemd service templates for production Linux hosts and scheduled batch processing.</a:t>
            </a:r>
            <a:endParaRPr lang="en-US" sz="185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Configurable Streamlit frontend for interactive clinician review and patient views.</a:t>
            </a:r>
            <a:endParaRPr lang="en-US" sz="1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1159073"/>
            <a:ext cx="6745010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Quality Assurance &amp; Validation</a:t>
            </a:r>
            <a:endParaRPr lang="en-US" sz="3500" dirty="0"/>
          </a:p>
        </p:txBody>
      </p:sp>
      <p:sp>
        <p:nvSpPr>
          <p:cNvPr id="4" name="Shape 1"/>
          <p:cNvSpPr/>
          <p:nvPr/>
        </p:nvSpPr>
        <p:spPr>
          <a:xfrm>
            <a:off x="6324124" y="2081332"/>
            <a:ext cx="538520" cy="538520"/>
          </a:xfrm>
          <a:prstGeom prst="roundRect">
            <a:avLst>
              <a:gd name="adj" fmla="val 18670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01959" y="2163604"/>
            <a:ext cx="2855833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Performance Metrics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101959" y="2659142"/>
            <a:ext cx="669071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Workflow success rate &gt;95% on test datasets; recommendation relevance &gt;90% clinical alignment in retrospective validation.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6324124" y="3903940"/>
            <a:ext cx="538520" cy="538520"/>
          </a:xfrm>
          <a:prstGeom prst="roundRect">
            <a:avLst>
              <a:gd name="adj" fmla="val 18670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101959" y="398621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Clinical Safety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101959" y="4481751"/>
            <a:ext cx="669071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Explicit medical disclaimers in every patient‑facing report; decision provenance attached to each recommendation.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6324124" y="5726549"/>
            <a:ext cx="538520" cy="538520"/>
          </a:xfrm>
          <a:prstGeom prst="roundRect">
            <a:avLst>
              <a:gd name="adj" fmla="val 18670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01959" y="580882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Auditability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101959" y="6304359"/>
            <a:ext cx="669071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Traceable pipeline logs, model versioning, and test artifacts to support regulatory and institutional review.</a:t>
            </a:r>
            <a:endParaRPr lang="en-US" sz="1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1264087"/>
            <a:ext cx="4505920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Future Roadmap</a:t>
            </a:r>
            <a:endParaRPr lang="en-US" sz="35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24" y="2186345"/>
            <a:ext cx="7468553" cy="336077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962775" y="2331987"/>
            <a:ext cx="1306969" cy="189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Longitudinal DB</a:t>
            </a:r>
            <a:endParaRPr lang="en-US" sz="1150" dirty="0"/>
          </a:p>
        </p:txBody>
      </p:sp>
      <p:sp>
        <p:nvSpPr>
          <p:cNvPr id="6" name="Text 2"/>
          <p:cNvSpPr/>
          <p:nvPr/>
        </p:nvSpPr>
        <p:spPr>
          <a:xfrm>
            <a:off x="1962775" y="2579400"/>
            <a:ext cx="1306969" cy="32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Integrate Supabase for patient timelines</a:t>
            </a:r>
            <a:endParaRPr lang="en-US" sz="10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75105" y="3241524"/>
            <a:ext cx="289490" cy="28949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255382" y="4852570"/>
            <a:ext cx="1314150" cy="189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Ask Your Report</a:t>
            </a:r>
            <a:endParaRPr lang="en-US" sz="1150" dirty="0"/>
          </a:p>
        </p:txBody>
      </p:sp>
      <p:sp>
        <p:nvSpPr>
          <p:cNvPr id="9" name="Text 4"/>
          <p:cNvSpPr/>
          <p:nvPr/>
        </p:nvSpPr>
        <p:spPr>
          <a:xfrm>
            <a:off x="3255382" y="5099983"/>
            <a:ext cx="1314150" cy="32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LLM-powered natural-language queries</a:t>
            </a:r>
            <a:endParaRPr lang="en-US" sz="10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67711" y="4297154"/>
            <a:ext cx="289490" cy="28949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533626" y="2211815"/>
            <a:ext cx="1306969" cy="37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Specialized Panels</a:t>
            </a:r>
            <a:endParaRPr lang="en-US" sz="1150" dirty="0"/>
          </a:p>
        </p:txBody>
      </p:sp>
      <p:sp>
        <p:nvSpPr>
          <p:cNvPr id="12" name="Text 6"/>
          <p:cNvSpPr/>
          <p:nvPr/>
        </p:nvSpPr>
        <p:spPr>
          <a:xfrm>
            <a:off x="4533626" y="2649192"/>
            <a:ext cx="1306969" cy="32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Add Thyroid, Liver, Kidney views</a:t>
            </a:r>
            <a:endParaRPr lang="en-US" sz="10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67499" y="3212800"/>
            <a:ext cx="289490" cy="28949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826232" y="4757532"/>
            <a:ext cx="1306969" cy="37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Continuous Learning</a:t>
            </a:r>
            <a:endParaRPr lang="en-US" sz="1150" dirty="0"/>
          </a:p>
        </p:txBody>
      </p:sp>
      <p:sp>
        <p:nvSpPr>
          <p:cNvPr id="15" name="Text 8"/>
          <p:cNvSpPr/>
          <p:nvPr/>
        </p:nvSpPr>
        <p:spPr>
          <a:xfrm>
            <a:off x="5826232" y="5194909"/>
            <a:ext cx="1306969" cy="323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Clinician feedback loop for improvement</a:t>
            </a:r>
            <a:endParaRPr lang="en-US" sz="10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38562" y="4297154"/>
            <a:ext cx="289490" cy="28949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837724" y="5816322"/>
            <a:ext cx="746855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Next priorities: longitudinal health tracking, natural‑language querying via integrated LLMs, and specialized analytic panels to broaden clinical coverage.</a:t>
            </a:r>
            <a:endParaRPr lang="en-US" sz="1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1264444"/>
            <a:ext cx="5663208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Conclusion &amp; Impact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2327434"/>
            <a:ext cx="7468553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 built a production‑ready AI agent that bridges laboratory data and understandable, actionable health guidance — enabling faster interpretation, reduced patient anxiety, and evidence‑driven clinical decisions.</a:t>
            </a:r>
            <a:endParaRPr lang="en-US" sz="1850" dirty="0"/>
          </a:p>
        </p:txBody>
      </p:sp>
      <p:sp>
        <p:nvSpPr>
          <p:cNvPr id="5" name="Shape 2"/>
          <p:cNvSpPr/>
          <p:nvPr/>
        </p:nvSpPr>
        <p:spPr>
          <a:xfrm>
            <a:off x="837724" y="4128730"/>
            <a:ext cx="3614618" cy="2184202"/>
          </a:xfrm>
          <a:prstGeom prst="roundRect">
            <a:avLst>
              <a:gd name="adj" fmla="val 4603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D6BAD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07519" y="439852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Immediate Value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07519" y="4894064"/>
            <a:ext cx="3075027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Consistent, auditable summaries and prioritized follow‑up recommendations.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4691658" y="4128730"/>
            <a:ext cx="3614618" cy="2184202"/>
          </a:xfrm>
          <a:prstGeom prst="roundRect">
            <a:avLst>
              <a:gd name="adj" fmla="val 4603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D6BA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61453" y="439852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Long‑Term Vision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961453" y="4894064"/>
            <a:ext cx="3075027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Longitudinal monitoring and clinician‑in‑the‑loop continuous improvement.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837724" y="6582132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Thank you — Questions?</a:t>
            </a: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2026-02-19T16:12:55Z</dcterms:created>
  <dcterms:modified xsi:type="dcterms:W3CDTF">2026-02-19T16:12:55Z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NXPowerLiteLastOptimized" pid="2">
    <vt:lpwstr>2461067</vt:lpwstr>
  </property>
  <property fmtid="{D5CDD505-2E9C-101B-9397-08002B2CF9AE}" name="NXPowerLiteSettings" pid="3">
    <vt:lpwstr>F7000400038000</vt:lpwstr>
  </property>
  <property fmtid="{D5CDD505-2E9C-101B-9397-08002B2CF9AE}" name="NXPowerLiteVersion" pid="4">
    <vt:lpwstr>S10.9.5</vt:lpwstr>
  </property>
</Properties>
</file>