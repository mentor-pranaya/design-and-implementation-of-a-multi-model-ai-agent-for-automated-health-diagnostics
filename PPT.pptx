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arlow Medium" charset="1" panose="00000600000000000000"/>
      <p:regular r:id="rId20"/>
    </p:embeddedFont>
    <p:embeddedFont>
      <p:font typeface="Barlow Bold" charset="1" panose="00000800000000000000"/>
      <p:regular r:id="rId21"/>
    </p:embeddedFont>
    <p:embeddedFont>
      <p:font typeface="Barlow" charset="1" panose="00000500000000000000"/>
      <p:regular r:id="rId22"/>
    </p:embeddedFont>
    <p:embeddedFont>
      <p:font typeface="Barlow Italic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775499"/>
            <a:ext cx="16127911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5CC97B"/>
                </a:solidFill>
                <a:latin typeface="Barlow Medium"/>
                <a:ea typeface="Barlow Medium"/>
                <a:cs typeface="Barlow Medium"/>
                <a:sym typeface="Barlow Medium"/>
              </a:rPr>
              <a:t>Multi-Model AI Agent for Automated Health Diagnostics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4632427"/>
            <a:ext cx="16127911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Transforming Unstructured Medical Reports into Actionable Intelligence using OCR, Regex, and Hybrid Rule Engines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413102"/>
            <a:ext cx="8213379" cy="70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An Intelligent Diagnostic Assistant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456832"/>
            <a:ext cx="16127911" cy="454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Universal Ingestion: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 robust ingestion pipeline that accurately digitized high-fidelity digital PDFs alongside low-quality, blurry physical smartphone scans.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Absolute Privacy (Local-First):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The system processes all highly sensitive Protected Health Information (PHI) 100% locally on the device.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Intelligent Analysis: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It doesn't just read numbers; an expert rule engine correlates multiple biomarkers simultaneously to flag complex health risks (e.g., Metabolic Syndrome).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Actionable Advice: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The Agent translates clinical data into personalized, easy-to-read lifestyle, fitness, and dietary recommendations tailored to the patient's specific demographics.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413102"/>
            <a:ext cx="8408784" cy="70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Local-First Monolithic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456832"/>
            <a:ext cx="16127911" cy="454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The Approach: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We deliberately bypassed external cloud databases (like Supabase) and external REST APIs (like FastAPI).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Zero Network Latency: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The entire "Intelligence Core" runs natively in a single Python runtime via Streamlit. This guarantees instant, real-time analysis without server downtime.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Imperative Data Security: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By avoiding cloud transmission, we guarantee 100% HIPAA-compliant data privacy—patient data never leaves the local machine.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Dynamic Storage: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Instead of a heavy SQL database, clinical logic is securely stored in a lightweight, lightning-fast knowledge_base.json file.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13459" y="849811"/>
            <a:ext cx="12460929" cy="8587235"/>
            <a:chOff x="0" y="0"/>
            <a:chExt cx="16614572" cy="1144964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6614521" cy="11449685"/>
            </a:xfrm>
            <a:custGeom>
              <a:avLst/>
              <a:gdLst/>
              <a:ahLst/>
              <a:cxnLst/>
              <a:rect r="r" b="b" t="t" l="l"/>
              <a:pathLst>
                <a:path h="11449685" w="16614521">
                  <a:moveTo>
                    <a:pt x="0" y="0"/>
                  </a:moveTo>
                  <a:lnTo>
                    <a:pt x="16614521" y="0"/>
                  </a:lnTo>
                  <a:lnTo>
                    <a:pt x="16614521" y="11449685"/>
                  </a:lnTo>
                  <a:lnTo>
                    <a:pt x="0" y="11449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" r="0" b="-3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15310" y="6183563"/>
            <a:ext cx="3225536" cy="412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Upload Report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4679861" y="4005529"/>
            <a:ext cx="806386" cy="806386"/>
          </a:xfrm>
          <a:custGeom>
            <a:avLst/>
            <a:gdLst/>
            <a:ahLst/>
            <a:cxnLst/>
            <a:rect r="r" b="b" t="t" l="l"/>
            <a:pathLst>
              <a:path h="806386" w="806386">
                <a:moveTo>
                  <a:pt x="0" y="0"/>
                </a:moveTo>
                <a:lnTo>
                  <a:pt x="806387" y="0"/>
                </a:lnTo>
                <a:lnTo>
                  <a:pt x="806387" y="806387"/>
                </a:lnTo>
                <a:lnTo>
                  <a:pt x="0" y="806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72470" y="2627919"/>
            <a:ext cx="3225536" cy="412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Local OCR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228789" y="4497162"/>
            <a:ext cx="806386" cy="806386"/>
          </a:xfrm>
          <a:custGeom>
            <a:avLst/>
            <a:gdLst/>
            <a:ahLst/>
            <a:cxnLst/>
            <a:rect r="r" b="b" t="t" l="l"/>
            <a:pathLst>
              <a:path h="806386" w="806386">
                <a:moveTo>
                  <a:pt x="0" y="0"/>
                </a:moveTo>
                <a:lnTo>
                  <a:pt x="806387" y="0"/>
                </a:lnTo>
                <a:lnTo>
                  <a:pt x="806387" y="806387"/>
                </a:lnTo>
                <a:lnTo>
                  <a:pt x="0" y="806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64" t="0" r="-176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77215" y="7239676"/>
            <a:ext cx="3225536" cy="412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Rule Engine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777974" y="4988804"/>
            <a:ext cx="806386" cy="806386"/>
          </a:xfrm>
          <a:custGeom>
            <a:avLst/>
            <a:gdLst/>
            <a:ahLst/>
            <a:cxnLst/>
            <a:rect r="r" b="b" t="t" l="l"/>
            <a:pathLst>
              <a:path h="806386" w="806386">
                <a:moveTo>
                  <a:pt x="0" y="0"/>
                </a:moveTo>
                <a:lnTo>
                  <a:pt x="806387" y="0"/>
                </a:lnTo>
                <a:lnTo>
                  <a:pt x="806387" y="806387"/>
                </a:lnTo>
                <a:lnTo>
                  <a:pt x="0" y="8063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352" r="0" b="-235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599897" y="3577180"/>
            <a:ext cx="3225536" cy="412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Generate Insights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2490952" y="5516737"/>
            <a:ext cx="806386" cy="806386"/>
          </a:xfrm>
          <a:custGeom>
            <a:avLst/>
            <a:gdLst/>
            <a:ahLst/>
            <a:cxnLst/>
            <a:rect r="r" b="b" t="t" l="l"/>
            <a:pathLst>
              <a:path h="806386" w="806386">
                <a:moveTo>
                  <a:pt x="0" y="0"/>
                </a:moveTo>
                <a:lnTo>
                  <a:pt x="806386" y="0"/>
                </a:lnTo>
                <a:lnTo>
                  <a:pt x="806386" y="806387"/>
                </a:lnTo>
                <a:lnTo>
                  <a:pt x="0" y="8063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294" t="0" r="-5294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466975"/>
            <a:ext cx="9375220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Reading the Unreadable with Tesseract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510705"/>
            <a:ext cx="16127911" cy="454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Core Vision: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Utilizes Tesseract v5 OCR augmented with Python Imaging Library (PIL) to instantly grayscale and enhance the contrast of uploaded photos.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Adaptive Fallback Engine: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If an image is too corrupted for standard reading, the system auto-triggers "Page Segmentation Mode 6 (PSM-6)", forcing the OCR to scan scattered data as a single continuous block, preventing data loss.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Adaptive Unit Scaling: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Solves the massive challenge of unit disparity across clinics. If a lab reports Platelets as "1.75 Lakhs", the math engine autonomously scales it to standard scientific SI units ("175,000 /cumm") for accurate clinical evaluation.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58278" y="2334957"/>
            <a:ext cx="9086698" cy="70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Forgiving the OCR &amp; Securing the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11161"/>
            <a:ext cx="16127911" cy="397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The Glued Text Solver: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Automatically recovers data when letters merge in bad scans (e.g., successfully parsing AgeGender:20 to deduce the patient is 20 years old).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Strict Word Boundaries (\b):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Isolates chemical symbols using strict regex boundaries so that the element "Na" (Sodium) never accidentally triggers a false critical alert on common words like "Name".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Negative Lookahead Disambiguation: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Uses advanced Regex to separate physically identical strings. It strictly differentiates Hb (Hemoglobin) from HbA1c (Glucose), preventing the system from falsely diagnosing Anemia.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319150"/>
            <a:ext cx="12523709" cy="6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4087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Milestone 1 – Data Ingestion &amp; "Format Chaos" handling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942159"/>
            <a:ext cx="16127911" cy="340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Universal Input Support: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Processes PDFs, scanned images, CSVs, and JSON files.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Handling "Format Chaos":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Standardizes hundreds of erratic clinic formats and abbreviations (e.g., mapping "TLC" to "WBC").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Tesseract OCR Integration: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Lightweight, CPU-friendly optical character recognition.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Adaptive Fallback Engine: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Auto-triggers </a:t>
            </a: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Page Segmentation Mode 6 (PSM-6)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on corrupted/messy scans to force uniform text block reading and prevent data loss.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184729"/>
            <a:ext cx="9458087" cy="66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4"/>
              </a:lnSpc>
            </a:pPr>
            <a:r>
              <a:rPr lang="en-US" sz="4187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Milestone 2 – The Biomarker Risk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1389" y="3458570"/>
            <a:ext cx="16127911" cy="54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7"/>
              </a:lnSpc>
            </a:pP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Risk Scoring &amp; Abnormality Detection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5" y="4611396"/>
            <a:ext cx="16127911" cy="282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Data Normalization: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Converts extracted raw text into structured numerical data.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Intelligent Range Mapping: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Applies medical standard reference ranges to each identified biomarker.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Individual Biomarker Alerts: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Automatically flags out-of-bounds metrics (Low, Normal, High, Critical).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Deterministic Validation: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Ensures that the AI has hard, mathematical facts before it attempts to generate health insights.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67090" y="888132"/>
            <a:ext cx="13637013" cy="5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5"/>
              </a:lnSpc>
            </a:pPr>
            <a:r>
              <a:rPr lang="en-US" sz="3674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Milestones 3 &amp; 4 – Multi-Model AI Agent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67090" y="1798587"/>
            <a:ext cx="13953677" cy="7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2049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Instead of one massive, monolithic AI, we employ a distributed intelligence approach, splitting complex tasks across specialized models for enhanced accuracy and efficiency.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94732" y="2657475"/>
            <a:ext cx="4898384" cy="4620663"/>
            <a:chOff x="0" y="0"/>
            <a:chExt cx="6531178" cy="616088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6531229" cy="6160897"/>
            </a:xfrm>
            <a:custGeom>
              <a:avLst/>
              <a:gdLst/>
              <a:ahLst/>
              <a:cxnLst/>
              <a:rect r="r" b="b" t="t" l="l"/>
              <a:pathLst>
                <a:path h="6160897" w="6531229">
                  <a:moveTo>
                    <a:pt x="0" y="0"/>
                  </a:moveTo>
                  <a:lnTo>
                    <a:pt x="6531229" y="0"/>
                  </a:lnTo>
                  <a:lnTo>
                    <a:pt x="6531229" y="6160897"/>
                  </a:lnTo>
                  <a:lnTo>
                    <a:pt x="0" y="616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" r="0" b="-1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165057" y="5632142"/>
            <a:ext cx="1555004" cy="22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Context Extraction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65057" y="5927893"/>
            <a:ext cx="1555004" cy="50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2"/>
              </a:lnSpc>
            </a:pPr>
            <a:r>
              <a:rPr lang="en-US" sz="1187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Pull relevant patient and chart details for synthesis.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35994" y="3498437"/>
            <a:ext cx="1555004" cy="22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Medical Synthesis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35994" y="3794198"/>
            <a:ext cx="1555004" cy="50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2"/>
              </a:lnSpc>
            </a:pPr>
            <a:r>
              <a:rPr lang="en-US" sz="1187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Integrate findings and generate clinical conclusions.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6178" y="5632142"/>
            <a:ext cx="1555013" cy="22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Report Formatting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6178" y="5927893"/>
            <a:ext cx="1555013" cy="50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2"/>
              </a:lnSpc>
            </a:pPr>
            <a:r>
              <a:rPr lang="en-US" sz="1187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Structure results into a clear, shareable document.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67090" y="7428605"/>
            <a:ext cx="13953677" cy="215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09165" indent="-154583" lvl="1">
              <a:lnSpc>
                <a:spcPts val="2855"/>
              </a:lnSpc>
              <a:buFont typeface="Arial"/>
              <a:buChar char="•"/>
            </a:pPr>
            <a:r>
              <a:rPr lang="en-US" b="true" sz="2049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Model 1 (M1) - Context Extraction:</a:t>
            </a:r>
            <a:r>
              <a:rPr lang="en-US" sz="2049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Scans the document to deduce patient demographics (Age, Gender) required for accurate baseline comparisons.</a:t>
            </a:r>
          </a:p>
          <a:p>
            <a:pPr algn="just" marL="309165" indent="-154583" lvl="1">
              <a:lnSpc>
                <a:spcPts val="2855"/>
              </a:lnSpc>
              <a:buFont typeface="Arial"/>
              <a:buChar char="•"/>
            </a:pPr>
            <a:r>
              <a:rPr lang="en-US" b="true" sz="2049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Model 2 (M2) - Medical Synthesis:</a:t>
            </a:r>
            <a:r>
              <a:rPr lang="en-US" sz="2049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Analyzes structured abnormalities from the Risk Engine against the patient's medical history.</a:t>
            </a:r>
          </a:p>
          <a:p>
            <a:pPr algn="just" marL="309165" indent="-154583" lvl="1">
              <a:lnSpc>
                <a:spcPts val="2855"/>
              </a:lnSpc>
              <a:buFont typeface="Arial"/>
              <a:buChar char="•"/>
            </a:pPr>
            <a:r>
              <a:rPr lang="en-US" b="true" sz="2049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Model 3 (M3) - Report Formatting:</a:t>
            </a:r>
            <a:r>
              <a:rPr lang="en-US" sz="2049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Translates complex clinical findings into accessible, human-readable insights with automated medical disclaimers.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689483"/>
            <a:ext cx="8121853" cy="70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Dual-Tier Risk Assessment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87458"/>
            <a:ext cx="16127911" cy="511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Context-Aware Ranges: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The engine actively adjusts "Normal" physiological baselines on the fly depending on whether the extracted patient demographics signal Male, Female, or Elderly parameters.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Comprehensive Patient Context: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The AI maps directly against 14 selectable chronic conditions (e.g., Asthma, Liver Disease, Diabetes) to generate hyper-specific warnings.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Micro &amp; Macro Assessment: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The engine simultaneously flags complex, multi-biomarker diseases (like Metabolic Syndrome) </a:t>
            </a:r>
            <a:r>
              <a:rPr lang="en-US" sz="2774" i="true">
                <a:solidFill>
                  <a:srgbClr val="E5E0DF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and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instantly generates granular, specific dietary alerts for any single abnormal biomarker (e.g., Low WBC).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Critical Threshold Monitoring: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 secondary layer instantly triggers "Severe Risk" warnings if values breach immediate life-threatening boundaries.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114944"/>
            <a:ext cx="650557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Safe Autonomous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295576"/>
            <a:ext cx="16127911" cy="454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Autonomous Discovery: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The system scans the physician's "Clinical Impressions" text on the uploaded report. If it finds a disease it has never seen before, it actively learns the condition and catalogues it into the knowledge base automatically.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The "Safety Lock":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While the AI discovers the disease, it securely leaves the numerical diagnostic boundary parameters blank.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Human-In-The-Loop: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To prevent AI hallucination, a licensed medical professional must manually approve and strictly code the exact numeric boundaries in the JSON file before the system is allowed to diagnose patients with the newly learned condition.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97393" y="2169519"/>
            <a:ext cx="7515073" cy="70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Results &amp; Real-World Validation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7393" y="3602271"/>
            <a:ext cx="16127911" cy="397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Digital PDFs: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Achieved 100% Extraction Accuracy instantaneously.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Glued Text Scans (AgeGender:20):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Handled entirely without error via Regex non-digit skipping.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Localized Nomenclature (Lakhs vs Thousands):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Successfully normalized by the mathematical Adaptive Unit Scalar.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Confusing Syntax (HbA1c / Name):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False positives successfully eliminated by Negative Lookahead and Strict Word Boundaries.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Speed: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Attained sub-2-second processing times per report, completely offline.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466975"/>
            <a:ext cx="8177212" cy="70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Interaction Layer &amp; Clinical 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510705"/>
            <a:ext cx="16127911" cy="454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The Streamlit Hub: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 beautifully crafted, sleek dark-mode metric dashboard featuring intelligent color-coding for rapid triage (Green for Normal, Yellow for Alerts, Red for Critical).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Professional PDF Generation: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The entire analysis is cleanly compiled into a structured, tabular PDF document. Unstructured data is mathematically formatted into neat clinical rows, ready to be immediately handed to a physician for review.</a:t>
            </a:r>
          </a:p>
          <a:p>
            <a:pPr algn="just" marL="418504" indent="-209252" lvl="1">
              <a:lnSpc>
                <a:spcPts val="4527"/>
              </a:lnSpc>
              <a:buFont typeface="Arial"/>
              <a:buChar char="•"/>
            </a:pPr>
            <a:r>
              <a:rPr lang="en-US" b="true" sz="2774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Future scope: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Simulated Chat Agent that imitates an LLM experience using deterministic rules. Patients can type queries like </a:t>
            </a:r>
            <a:r>
              <a:rPr lang="en-US" sz="2774" i="true">
                <a:solidFill>
                  <a:srgbClr val="E5E0DF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"Is my report normal?"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or </a:t>
            </a:r>
            <a:r>
              <a:rPr lang="en-US" sz="2774" i="true">
                <a:solidFill>
                  <a:srgbClr val="E5E0DF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"What should my diet be based on these risks?"</a:t>
            </a:r>
            <a:r>
              <a:rPr lang="en-US" sz="2774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and receive dynamic, mathematically-backed conversational answers.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81835" y="4360893"/>
            <a:ext cx="5234580" cy="12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7"/>
              </a:lnSpc>
            </a:pPr>
            <a:r>
              <a:rPr lang="en-US" sz="6679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DAHCDygO8BA</dc:identifier>
  <dcterms:modified xsi:type="dcterms:W3CDTF">2011-08-01T06:04:30Z</dcterms:modified>
  <cp:revision>1</cp:revision>
  <dc:title>PPT</dc:title>
</cp:coreProperties>
</file>